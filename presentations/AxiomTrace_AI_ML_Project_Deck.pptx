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e86deffca44f30" /><Relationship Type="http://schemas.openxmlformats.org/officeDocument/2006/relationships/extended-properties" Target="/docProps/app.xml" Id="Re76eed7ccbb54ed6" /><Relationship Type="http://schemas.openxmlformats.org/officeDocument/2006/relationships/officeDocument" Target="/ppt/presentation.xml" Id="R88130a759ca947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f857d82a084750"/>
  </p:sldMasterIdLst>
  <p:notesMasterIdLst>
    <p:notesMasterId xmlns:r="http://schemas.openxmlformats.org/officeDocument/2006/relationships" r:id="R3deafeeaf2934b54"/>
  </p:notesMasterIdLst>
  <p:sldIdLst>
    <p:sldId xmlns:r="http://schemas.openxmlformats.org/officeDocument/2006/relationships" id="256" r:id="Re46340e934fb4d47"/>
    <p:sldId xmlns:r="http://schemas.openxmlformats.org/officeDocument/2006/relationships" id="257" r:id="R90153b81d67a4746"/>
    <p:sldId xmlns:r="http://schemas.openxmlformats.org/officeDocument/2006/relationships" id="258" r:id="Rd650a259c0c44160"/>
    <p:sldId xmlns:r="http://schemas.openxmlformats.org/officeDocument/2006/relationships" id="259" r:id="R7d82bcef12d24017"/>
    <p:sldId xmlns:r="http://schemas.openxmlformats.org/officeDocument/2006/relationships" id="260" r:id="R3ab5e725cc6748d2"/>
    <p:sldId xmlns:r="http://schemas.openxmlformats.org/officeDocument/2006/relationships" id="261" r:id="R6e9ec864ebae429e"/>
    <p:sldId xmlns:r="http://schemas.openxmlformats.org/officeDocument/2006/relationships" id="262" r:id="R1c69be1e9b334093"/>
    <p:sldId xmlns:r="http://schemas.openxmlformats.org/officeDocument/2006/relationships" id="263" r:id="Ra11e36d9bad04d31"/>
    <p:sldId xmlns:r="http://schemas.openxmlformats.org/officeDocument/2006/relationships" id="264" r:id="R121955bd12834c24"/>
    <p:sldId xmlns:r="http://schemas.openxmlformats.org/officeDocument/2006/relationships" id="265" r:id="R2606909592cc4a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43447a36142ac" /><Relationship Type="http://schemas.openxmlformats.org/officeDocument/2006/relationships/slideMaster" Target="/ppt/slideMasters/slideMaster1.xml" Id="Rfbf857d82a084750" /><Relationship Type="http://schemas.openxmlformats.org/officeDocument/2006/relationships/notesMaster" Target="/ppt/notesMasters/notesMaster1.xml" Id="R3deafeeaf2934b54" /><Relationship Type="http://schemas.openxmlformats.org/officeDocument/2006/relationships/presProps" Target="/ppt/presProps.xml" Id="R9085ed02f319412a" /><Relationship Type="http://schemas.openxmlformats.org/officeDocument/2006/relationships/viewProps" Target="/ppt/viewProps.xml" Id="Ra51064c22f1e4a4b" /><Relationship Type="http://schemas.openxmlformats.org/officeDocument/2006/relationships/tableStyles" Target="/ppt/tableStyles.xml" Id="Rc17880f3543746eb" /><Relationship Type="http://schemas.openxmlformats.org/officeDocument/2006/relationships/slide" Target="/ppt/slides/slide1.xml" Id="Re46340e934fb4d47" /><Relationship Type="http://schemas.openxmlformats.org/officeDocument/2006/relationships/slide" Target="/ppt/slides/slide2.xml" Id="R90153b81d67a4746" /><Relationship Type="http://schemas.openxmlformats.org/officeDocument/2006/relationships/slide" Target="/ppt/slides/slide3.xml" Id="Rd650a259c0c44160" /><Relationship Type="http://schemas.openxmlformats.org/officeDocument/2006/relationships/slide" Target="/ppt/slides/slide4.xml" Id="R7d82bcef12d24017" /><Relationship Type="http://schemas.openxmlformats.org/officeDocument/2006/relationships/slide" Target="/ppt/slides/slide5.xml" Id="R3ab5e725cc6748d2" /><Relationship Type="http://schemas.openxmlformats.org/officeDocument/2006/relationships/slide" Target="/ppt/slides/slide6.xml" Id="R6e9ec864ebae429e" /><Relationship Type="http://schemas.openxmlformats.org/officeDocument/2006/relationships/slide" Target="/ppt/slides/slide7.xml" Id="R1c69be1e9b334093" /><Relationship Type="http://schemas.openxmlformats.org/officeDocument/2006/relationships/slide" Target="/ppt/slides/slide8.xml" Id="Ra11e36d9bad04d31" /><Relationship Type="http://schemas.openxmlformats.org/officeDocument/2006/relationships/slide" Target="/ppt/slides/slide9.xml" Id="R121955bd12834c24" /><Relationship Type="http://schemas.openxmlformats.org/officeDocument/2006/relationships/slide" Target="/ppt/slides/slide10.xml" Id="R2606909592cc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a95d24f6964c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ff39598ce64cc5" /><Relationship Type="http://schemas.openxmlformats.org/officeDocument/2006/relationships/notesMaster" Target="/ppt/notesMasters/notesMaster1.xml" Id="R15b33f9cf0ea4b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c0770414ed4dc5" /><Relationship Type="http://schemas.openxmlformats.org/officeDocument/2006/relationships/notesMaster" Target="/ppt/notesMasters/notesMaster1.xml" Id="R876fabb043fc49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0842ec26654509" /><Relationship Type="http://schemas.openxmlformats.org/officeDocument/2006/relationships/notesMaster" Target="/ppt/notesMasters/notesMaster1.xml" Id="R6d23aa5937bb48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5f4497b71a4a3f" /><Relationship Type="http://schemas.openxmlformats.org/officeDocument/2006/relationships/notesMaster" Target="/ppt/notesMasters/notesMaster1.xml" Id="R883f43f866b34f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8de739a88b465e" /><Relationship Type="http://schemas.openxmlformats.org/officeDocument/2006/relationships/notesMaster" Target="/ppt/notesMasters/notesMaster1.xml" Id="R65502459cea848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26eeac36ab4d0e" /><Relationship Type="http://schemas.openxmlformats.org/officeDocument/2006/relationships/notesMaster" Target="/ppt/notesMasters/notesMaster1.xml" Id="R10d0e219557d4b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34d2a64672494e" /><Relationship Type="http://schemas.openxmlformats.org/officeDocument/2006/relationships/notesMaster" Target="/ppt/notesMasters/notesMaster1.xml" Id="R100423ce020c46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f3a50354be4a69" /><Relationship Type="http://schemas.openxmlformats.org/officeDocument/2006/relationships/notesMaster" Target="/ppt/notesMasters/notesMaster1.xml" Id="Ra95a58c61f9044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987230941b4078" /><Relationship Type="http://schemas.openxmlformats.org/officeDocument/2006/relationships/notesMaster" Target="/ppt/notesMasters/notesMaster1.xml" Id="Rb8949a149bbd4f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62610598b44947" /><Relationship Type="http://schemas.openxmlformats.org/officeDocument/2006/relationships/notesMaster" Target="/ppt/notesMasters/notesMaster1.xml" Id="Ra105cbc9313549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https://www.pib.gov.in/PressReleasePage.aspx?PRID=2219936&amp;lang=1&amp;reg=1 (Ministry of Education AISHE 2022–23 provisional enrolment; accessed 2026-08-16)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C:/Users/maadh/Desktop/AxiomTrace (repository implementation and seeded demo data; accessed 2026-08-16)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C:/Users/maadh/Desktop/AxiomTrace/docs/assets/axiom-trace-system-architecture.png (project architecture diagram; accessed 2026-08-16)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C:/Users/maadh/Desktop/AxiomTrace (repository implementation and configuration; accessed 2026-08-16)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C:/Users/maadh/Desktop/AxiomTrace (local verification run: backend tests, frontend checks, extension tests and launcher health checks; accessed 2026-08-16)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f3cf6d6724c75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4efae91f884fb0" /><Relationship Type="http://schemas.openxmlformats.org/officeDocument/2006/relationships/slideLayout" Target="/ppt/slideLayouts/slideLayout1.xml" Id="R2f061afc39b1433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61afc39b1433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41426827046b7" /><Relationship Type="http://schemas.openxmlformats.org/officeDocument/2006/relationships/notesSlide" Target="/ppt/notesSlides/notesSlide1.xml" Id="Rc34954bdfc634e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96953d89441c0" /><Relationship Type="http://schemas.openxmlformats.org/officeDocument/2006/relationships/notesSlide" Target="/ppt/notesSlides/notesSlide2.xml" Id="Re517bd1d1fda45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0808d1468447a" /><Relationship Type="http://schemas.openxmlformats.org/officeDocument/2006/relationships/notesSlide" Target="/ppt/notesSlides/notesSlide3.xml" Id="Rbda0d6bc5fa049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f6d6411cf4d84" /><Relationship Type="http://schemas.openxmlformats.org/officeDocument/2006/relationships/notesSlide" Target="/ppt/notesSlides/notesSlide4.xml" Id="Rb53782caebb840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e2cc96e47442b" /><Relationship Type="http://schemas.openxmlformats.org/officeDocument/2006/relationships/notesSlide" Target="/ppt/notesSlides/notesSlide5.xml" Id="R2c54d9fd62654c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33afdfec44b91" /><Relationship Type="http://schemas.openxmlformats.org/officeDocument/2006/relationships/image" Target="/ppt/media/image.png" Id="Rba96eb69fa5d4803" /><Relationship Type="http://schemas.openxmlformats.org/officeDocument/2006/relationships/notesSlide" Target="/ppt/notesSlides/notesSlide6.xml" Id="Rb83f181fccff4b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6822977634a88" /><Relationship Type="http://schemas.openxmlformats.org/officeDocument/2006/relationships/notesSlide" Target="/ppt/notesSlides/notesSlide7.xml" Id="Rd71ce416282143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32458253845f4" /><Relationship Type="http://schemas.openxmlformats.org/officeDocument/2006/relationships/notesSlide" Target="/ppt/notesSlides/notesSlide8.xml" Id="R1c9212e443784c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b1dbefb13427f" /><Relationship Type="http://schemas.openxmlformats.org/officeDocument/2006/relationships/notesSlide" Target="/ppt/notesSlides/notesSlide9.xml" Id="R40ac20eb423241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a48ee710a4126" /><Relationship Type="http://schemas.openxmlformats.org/officeDocument/2006/relationships/notesSlide" Target="/ppt/notesSlides/notesSlide10.xml" Id="R2716dfb7ca6849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D489EDF6-449B-4ADC-AA5B-3D68E4B1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46304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A6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B791A40B-4388-4C3F-900B-BE19A42E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57200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C15EBF69-F2F9-4875-BFC0-9C0EEFEA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C7AE4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8C7AE4"/>
                </a:solidFill>
                <a:latin typeface="Calibri"/>
                <a:ea typeface="Calibri"/>
                <a:cs typeface="Calibri"/>
              </a:rPr>
              <a:t>AI / ML PROJECT PRESENTATION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2C63EADF-E6CB-452C-8255-7AC95B6D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100584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sz="4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AXIOM TRACE</a:t>
            </a:r>
            <a:endParaRPr sz="4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B86279D6-5579-4A9F-9229-E1C46763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96012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Clr>
                <a:srgbClr val="00C2D1"/>
              </a:buClr>
              <a:buSzPts val="1800"/>
              <a:buNone/>
            </a:pPr>
            <a:r>
              <a:rPr sz="1800">
                <a:solidFill>
                  <a:srgbClr val="0070C0"/>
                </a:solidFill>
              </a:rPr>
              <a:t>Knowledge-Graph-Guided RAG for Personalized Student Knowledge-Tracing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C2D1"/>
              </a:buClr>
              <a:buSzPts val="1800"/>
              <a:buFont typeface="Calibri"/>
              <a:buNone/>
            </a:pPr>
            <a:endParaRPr sz="1800" b="0" i="0" u="none" cap="none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6" name="Google Shape;21;p3"/>
          <p:cNvCxnSpPr/>
          <p:nvPr/>
        </p:nvCxnSpPr>
        <p:spPr>
          <a:xfrm xmlns:a="http://schemas.openxmlformats.org/drawingml/2006/main">
            <a:off x="548640" y="4343400"/>
            <a:ext cx="292608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8C7AE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8C795B29-6848-4C67-B906-257E2ED3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Team: Highest in the Room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BB1447A4-4A21-4067-A947-1F976511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19403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6CBE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C6CBEF"/>
                </a:solidFill>
                <a:latin typeface="Calibri"/>
                <a:ea typeface="Calibri"/>
                <a:cs typeface="Calibri"/>
              </a:rPr>
              <a:t>Members: Maadhav V H, Sachin A S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6CBEF"/>
              </a:buClr>
              <a:buSzPts val="1300"/>
              <a:buFont typeface="Calibri"/>
              <a:buNone/>
            </a:pP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533AF34C-DC73-4A8D-9385-EB9CE76E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9699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6CBE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C6CBEF"/>
                </a:solidFill>
                <a:latin typeface="Calibri"/>
                <a:ea typeface="Calibri"/>
                <a:cs typeface="Calibri"/>
              </a:rPr>
              <a:t>College / Department: KPRIET – ECE, CSE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6CBEF"/>
              </a:buClr>
              <a:buSzPts val="1300"/>
              <a:buFont typeface="Calibri"/>
              <a:buNone/>
            </a:pP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2740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B89FEAAF-5097-4C95-B12F-FD3E568B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021A1011-46CA-4958-9947-72EAFAF7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sz="2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DDAA7476-0152-48CF-A7C2-E591AE6C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960120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2500"/>
              <a:buFont typeface="Cambria"/>
              <a:buNone/>
            </a:pPr>
            <a:r>
              <a:rPr sz="2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PROBLEM STATEMENT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3C31F326-364A-4694-AAA2-F40930CC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61264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Students have information everywhere—but no system connects it to what they actually know.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DEDFFFC7-9BBD-4770-B25C-D167E58C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612648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600"/>
              <a:t>Notes, PDFs, webpages and assessments stay disconnected.</a:t>
            </a:r>
          </a:p>
          <a:p xmlns:a="http://schemas.openxmlformats.org/drawingml/2006/main">
            <a:r>
              <a:t/>
            </a:r>
            <a:endParaRPr sz="1600"/>
          </a:p>
          <a:p xmlns:a="http://schemas.openxmlformats.org/drawingml/2006/main">
            <a:r>
              <a:rPr sz="1600"/>
              <a:t>• Generic RAG retrieves similar text but ignores prerequisite gaps.</a:t>
            </a:r>
          </a:p>
          <a:p xmlns:a="http://schemas.openxmlformats.org/drawingml/2006/main">
            <a:r>
              <a:t>• Progress tools track activity, not concept mastery.</a:t>
            </a:r>
            <a:endParaRPr sz="1600"/>
          </a:p>
          <a:p xmlns:a="http://schemas.openxmlformats.org/drawingml/2006/main">
            <a:r>
              <a:rPr sz="1600"/>
              <a:t>• Explanations rarely show why evidence was selected.</a:t>
            </a:r>
          </a:p>
          <a:p xmlns:a="http://schemas.openxmlformats.org/drawingml/2006/main">
            <a:r>
              <a:rPr sz="1600"/>
              <a:t/>
            </a:r>
          </a:p>
          <a:p xmlns:a="http://schemas.openxmlformats.org/drawingml/2006/main">
            <a:r>
              <a:t>Axiom Trace links evidence, a prerequisite graph and P(known) to guide the next step.</a:t>
            </a:r>
            <a:endParaRPr sz="1600"/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3974DA54-7D32-4D6C-AAEB-53631287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17320"/>
            <a:ext cx="4206240" cy="36576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B2A6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1B1E34C1-2680-4051-BEFB-CD0BF797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3736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C2D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00C2D1"/>
                </a:solidFill>
                <a:latin typeface="Calibri"/>
                <a:ea typeface="Calibri"/>
                <a:cs typeface="Calibri"/>
              </a:rPr>
              <a:t>WHY THIS MATTERS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1A4B22FC-1F4E-4BC6-AFCF-C735C994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4560"/>
            <a:ext cx="3474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sz="5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4.46 Cr</a:t>
            </a:r>
            <a:endParaRPr sz="5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CB217392-518C-4E79-B8D6-EA8827CD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46120"/>
            <a:ext cx="347472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D6DAF2"/>
                </a:solidFill>
                <a:latin typeface="Calibri"/>
                <a:ea typeface="Calibri"/>
                <a:cs typeface="Calibri"/>
              </a:rPr>
              <a:t>Students enrolled in Indian higher education, 2022–23 (provisional).
Source: Ministry of Education, AISHE.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2138CF08-A25E-4317-AEC3-E50A8B8D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AI / ML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BF8F6F84-E050-417F-8BBB-4325E169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2693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0B759B69-E040-41EE-8998-740F09DC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D91A4508-91D0-4A95-9FE6-0E2559F2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sz="2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C36BEC89-BA78-425B-8D26-481C64B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960120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2500"/>
              <a:buFont typeface="Cambria"/>
              <a:buNone/>
            </a:pPr>
            <a:r>
              <a:rPr sz="2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OBJECTIVE &amp; PROPOSED SOLUTION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1BBDBFE8-1185-4407-A421-5F307364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094415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A110F6D9-46D0-42C2-853D-784DFBF4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10362895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900"/>
              <a:buFont typeface="Cambria"/>
              <a:buNone/>
            </a:pPr>
            <a:r>
              <a:rPr sz="1900" b="0" i="1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Axiom Trace turns a student’s own learning evidence into mastery-aware, cited guidance.</a:t>
            </a:r>
            <a:endParaRPr sz="1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1BDA46B6-B21C-4BCC-9E6A-45802A57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35204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BB0FD6C7-BB4C-49C0-AC0F-4333091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37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7AE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D0E74E88-7A36-4333-B1E8-95543D1E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37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D69F762A-F2D9-4CE8-8ACD-3BA2C46F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600"/>
              <a:buFont typeface="Cambria"/>
              <a:buNone/>
            </a:pPr>
            <a:r>
              <a:rPr sz="16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Primary Goal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7A9C879A-B019-48D2-8401-719B0176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9768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Connect reading, assessment and revision in one personalized learning loop.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BB1E2977-F5C2-497F-A9E7-42B31ECA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063240"/>
            <a:ext cx="35204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B350D570-9F68-4DBF-A9E2-ED5D5F9B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37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7AE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E2111FE0-34E2-49AB-B739-B7EA0C95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37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3C74F0FF-751A-4280-B722-AFB1C719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93192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600"/>
              <a:buFont typeface="Cambria"/>
              <a:buNone/>
            </a:pPr>
            <a:r>
              <a:rPr sz="16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Key Capability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F1FCF9A3-4F9E-473E-8620-1851F90E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29768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Expand retrieval through weak prerequisites and dependents before transformer reranking.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121DF1A7-A741-4C73-AA94-40AD5E07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3240"/>
            <a:ext cx="35204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D23F2B88-4988-49DC-90CA-076F38F2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337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7AE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685EC034-BDEC-4B80-9DC0-76B21FC5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337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CB5F8B59-2984-4FE9-B2B9-0CFD6C68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93192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600"/>
              <a:buFont typeface="Cambria"/>
              <a:buNone/>
            </a:pPr>
            <a:r>
              <a:rPr sz="16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Success Metric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3983D7C6-2C67-4F17-88B0-9C820A29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29768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Duplicate-safe capture, mastery updates, ordered evidence and visible retrieval reasons.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CF024D91-FED5-4DB7-A9A3-0B26FBA6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AI / ML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9F25D7C9-B57D-48FC-A5B7-F4E3A578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3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3547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7E1D4D59-C5A1-498F-B8ED-308EB717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FAD6338F-32EA-48AC-8203-44AB475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sz="2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291B0B8D-0BA3-45F8-AE48-12242F11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960120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2500"/>
              <a:buFont typeface="Cambria"/>
              <a:buNone/>
            </a:pPr>
            <a:r>
              <a:rPr sz="2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EXISTING SOLUTIONS &amp; OUR APPROACH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40D4FE96-E2C9-401F-810E-5B037195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Axiom Trace closes gaps left by similarity-only retrieval and static study tools.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CF7BFD6F-B6F5-46F5-992C-1774683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285292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A5AFE2CA-3833-4A9D-8DAA-B9F16D44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86000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9D5865D2-FD50-4CB8-8B4C-8E92582D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86000"/>
            <a:ext cx="257860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400"/>
              <a:buFont typeface="Cambria"/>
              <a:buNone/>
            </a:pPr>
            <a:r>
              <a:rPr sz="14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Generic AI / RAG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60381E53-4789-40D5-983C-E0538859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86000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4D1F055E-1299-4D7B-B869-3DC14A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86000"/>
            <a:ext cx="257860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400"/>
              <a:buFont typeface="Cambria"/>
              <a:buNone/>
            </a:pPr>
            <a:r>
              <a:rPr sz="14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LMS / Flashcards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20570C1B-ABF8-449A-B340-BE78E33C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286000"/>
            <a:ext cx="267004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2A6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9BB88827-9D56-4FE4-8C87-28F1FD08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286000"/>
            <a:ext cx="267004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sz="1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Axiom Trace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5C915369-856E-4B55-929A-7F464561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81528"/>
            <a:ext cx="285292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2663C3AB-9948-484D-AC8A-9AC19DDC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1528"/>
            <a:ext cx="257860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1B2A6B"/>
                </a:solidFill>
                <a:latin typeface="Calibri"/>
                <a:ea typeface="Calibri"/>
                <a:cs typeface="Calibri"/>
              </a:rPr>
              <a:t>Accuracy / Performance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DD4A08CE-EE1E-4940-BCED-6F8CD200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081528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98B96C6D-43A7-45F6-9CE2-2C73130E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081528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Semantic relevance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FC9D8E31-353B-4FF9-9F19-EA5BE713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81528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528EA7A2-1EE6-4007-B18F-D81D5656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081528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Manual progress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74A66BBE-5A94-42AE-B713-7D0EF0DD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81528"/>
            <a:ext cx="267004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9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DC9F9E61-ECC0-4754-9EF2-C61B7AA2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1528"/>
            <a:ext cx="23957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Mastery + graph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CF9F7F6F-DDB4-4E35-B4FC-FC3EDE42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77056"/>
            <a:ext cx="285292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35F2A1D1-C92B-4AE0-B6B3-6DBF99DC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7056"/>
            <a:ext cx="257860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1B2A6B"/>
                </a:solidFill>
                <a:latin typeface="Calibri"/>
                <a:ea typeface="Calibri"/>
                <a:cs typeface="Calibri"/>
              </a:rPr>
              <a:t>Key limitation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215029B6-7A57-4AD6-AB59-6562CE56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877056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BE55617C-55D1-4122-ADF8-A17E02F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877056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No learner model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F86D98B9-1183-4515-A603-A88720EC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77056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897EABD0-E60F-468A-8ADE-6F811A37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77056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Evidence disconnected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5D0F9CF8-BADF-48BE-8607-1968EF0E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877056"/>
            <a:ext cx="267004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9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ECB68F1B-6824-4A15-8862-353EF4AE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77056"/>
            <a:ext cx="23957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Formal efficacy pending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E9EDC2D6-EEE4-4389-A666-3731C37E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72584"/>
            <a:ext cx="285292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61EE6445-2BB2-4CC5-8E69-4D132D07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2584"/>
            <a:ext cx="257860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1B2A6B"/>
                </a:solidFill>
                <a:latin typeface="Calibri"/>
                <a:ea typeface="Calibri"/>
                <a:cs typeface="Calibri"/>
              </a:rPr>
              <a:t>Our improvement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6">
            <a:extLst xmlns:a="http://schemas.openxmlformats.org/drawingml/2006/main">
              <a:ext uri="{FF2B5EF4-FFF2-40B4-BE49-F238E27FC236}">
                <a16:creationId xmlns:a16="http://schemas.microsoft.com/office/drawing/2014/main" id="{5300C40F-778E-441C-A9B0-C97FDAEF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672584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67BE4DE6-CBA3-40F5-9D44-A6D27CA6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672584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—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E1D2C3D2-4DBA-4F1C-A9F7-FE91EAB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672584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A7CF4134-7733-45D5-996B-A0065837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72584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—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FC2C6F49-2C69-4F5E-B53F-3B4A6114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72584"/>
            <a:ext cx="267004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9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>
            <a:extLst xmlns:a="http://schemas.openxmlformats.org/drawingml/2006/main">
              <a:ext uri="{FF2B5EF4-FFF2-40B4-BE49-F238E27FC236}">
                <a16:creationId xmlns:a16="http://schemas.microsoft.com/office/drawing/2014/main" id="{7D575250-2D96-45FF-A054-9B089663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72584"/>
            <a:ext cx="239572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Cited adaptive loop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9D2B7BA7-3F33-4E49-9148-CF1D02C1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96012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Unlike similarity-only tools, Axiom Trace selects evidence using prerequisite structure, mastery and source provenance.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AD91387C-9442-451F-9D8F-7C5CE4FE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AI / ML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5F304BCB-865C-49DB-99E4-97373221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4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8332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2A6CBF9B-B2D1-498E-B0A3-656DB82B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055EBDD3-D301-4F46-9959-C2F14E6F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sz="2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7">
            <a:extLst xmlns:a="http://schemas.openxmlformats.org/drawingml/2006/main">
              <a:ext uri="{FF2B5EF4-FFF2-40B4-BE49-F238E27FC236}">
                <a16:creationId xmlns:a16="http://schemas.microsoft.com/office/drawing/2014/main" id="{AADA9A56-97AB-45B1-B8A3-E3952389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960120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2500"/>
              <a:buFont typeface="Cambria"/>
              <a:buNone/>
            </a:pPr>
            <a:r>
              <a:rPr sz="2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DATASET &amp; METHODOLOGY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7">
            <a:extLst xmlns:a="http://schemas.openxmlformats.org/drawingml/2006/main">
              <a:ext uri="{FF2B5EF4-FFF2-40B4-BE49-F238E27FC236}">
                <a16:creationId xmlns:a16="http://schemas.microsoft.com/office/drawing/2014/main" id="{5123309C-C55E-418D-B073-9FF0AB2A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One evidence pipeline powers graph retrieval, knowledge tracing and adaptive study.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1BFE719E-E40D-4835-80AA-34C8BA6D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320040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0A0BCFE4-35ED-49B6-B650-7B114E97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9659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84C7D931-2F44-484F-B170-8C9CAAD1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96596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sz="2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F74F59A6-5809-44C6-AC8B-8AB9FA6A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88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600"/>
              <a:buFont typeface="Cambria"/>
              <a:buNone/>
            </a:pPr>
            <a:r>
              <a:rPr sz="16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Data Collection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0790F834-2A76-45D2-AB5E-9D43F267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291840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Notes, PDFs and focused browser reading.
Demo: 3 sources, 8 concepts and 8 prerequisite edges.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A3533339-861D-4EA0-A97A-9BAAB57B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694176"/>
            <a:ext cx="393192" cy="292608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8C7AE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0D831E86-BCED-4B9F-8D47-263DC094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86000"/>
            <a:ext cx="320040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C16D9B18-BB92-460C-934F-55FB15CF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9659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3B7B54D9-A262-4075-995C-BD7153B4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96596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sz="2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9A0888DE-B9B3-4646-A1A0-B3B34C22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88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600"/>
              <a:buFont typeface="Cambria"/>
              <a:buNone/>
            </a:pPr>
            <a:r>
              <a:rPr sz="16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Preprocessing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07536E85-C9C3-44FF-9036-A587BFF0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91840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Validate, deduplicate and chunk text; create normalized 384-D embeddings; bind chunks to concepts.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DAF462D5-BBF2-45A3-8B7F-1B82D26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3694176"/>
            <a:ext cx="393192" cy="292608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8C7AE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CCD57B24-75D8-4C71-A6B5-BD21DCA3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0040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2DE6505B-7B07-4652-9F8E-68080B35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659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39D90AB3-43E4-44C7-82C5-92F3ADB3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6596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sz="2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5B067F6A-7C4E-4014-8578-E41F9620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8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600"/>
              <a:buFont typeface="Cambria"/>
              <a:buNone/>
            </a:pPr>
            <a:r>
              <a:rPr sz="16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Modeling Pipeline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346A210F-824C-4139-8C69-98D15C7B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1840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Graph expansion → candidate union → Qwen reranking → cited generation → BKT mastery update.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B7A1F10B-FF5B-4554-882E-58E6BFFF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AI / ML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84B91CEE-3069-4FD2-883A-53EAC14C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885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9E549152-071A-4CE7-B3D8-1AD61EF3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F54B832D-A1A1-4DE9-BCF0-DC0318CD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sz="2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28E4B82C-0DFB-4AED-A398-92E472F5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960120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2500"/>
              <a:buFont typeface="Cambria"/>
              <a:buNone/>
            </a:pPr>
            <a:r>
              <a:rPr sz="2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MODEL / SYSTEM ARCHITECTURE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8">
            <a:extLst xmlns:a="http://schemas.openxmlformats.org/drawingml/2006/main">
              <a:ext uri="{FF2B5EF4-FFF2-40B4-BE49-F238E27FC236}">
                <a16:creationId xmlns:a16="http://schemas.microsoft.com/office/drawing/2014/main" id="{2305D04E-F932-4445-A48C-2B479100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The retrieval path changes as the learner’s mastery changes.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8">
            <a:extLst xmlns:a="http://schemas.openxmlformats.org/drawingml/2006/main">
              <a:ext uri="{FF2B5EF4-FFF2-40B4-BE49-F238E27FC236}">
                <a16:creationId xmlns:a16="http://schemas.microsoft.com/office/drawing/2014/main" id="{C01E47FA-BB26-4821-809B-42BECD02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6400800" cy="36576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>
            <a:extLst xmlns:a="http://schemas.openxmlformats.org/drawingml/2006/main">
              <a:ext uri="{FF2B5EF4-FFF2-40B4-BE49-F238E27FC236}">
                <a16:creationId xmlns:a16="http://schemas.microsoft.com/office/drawing/2014/main" id="{DDFD8D2D-1611-44BC-8E26-03100E3B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94560"/>
            <a:ext cx="4327855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20242F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0242F"/>
                </a:solidFill>
                <a:latin typeface="Calibri"/>
                <a:ea typeface="Calibri"/>
                <a:cs typeface="Calibri"/>
              </a:rPr>
              <a:t>Pretrained transformer embeddings and local generation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400"/>
              </a:spcBef>
              <a:spcAft>
                <a:spcPts val="0"/>
              </a:spcAft>
              <a:buClr>
                <a:srgbClr val="20242F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0242F"/>
                </a:solidFill>
                <a:latin typeface="Calibri"/>
                <a:ea typeface="Calibri"/>
                <a:cs typeface="Calibri"/>
              </a:rPr>
              <a:t>Bayesian Knowledge Tracing estimates P(known)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400"/>
              </a:spcBef>
              <a:spcAft>
                <a:spcPts val="0"/>
              </a:spcAft>
              <a:buClr>
                <a:srgbClr val="20242F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0242F"/>
                </a:solidFill>
                <a:latin typeface="Calibri"/>
                <a:ea typeface="Calibri"/>
                <a:cs typeface="Calibri"/>
              </a:rPr>
              <a:t>Up to 4 weak prerequisites + 4 dependents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400"/>
              </a:spcBef>
              <a:spcAft>
                <a:spcPts val="0"/>
              </a:spcAft>
              <a:buClr>
                <a:srgbClr val="20242F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0242F"/>
                </a:solidFill>
                <a:latin typeface="Calibri"/>
                <a:ea typeface="Calibri"/>
                <a:cs typeface="Calibri"/>
              </a:rPr>
              <a:t>24 candidates; top 8 after reranking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400"/>
              </a:spcBef>
              <a:spcAft>
                <a:spcPts val="0"/>
              </a:spcAft>
              <a:buClr>
                <a:srgbClr val="20242F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0242F"/>
                </a:solidFill>
                <a:latin typeface="Calibri"/>
                <a:ea typeface="Calibri"/>
                <a:cs typeface="Calibri"/>
              </a:rPr>
              <a:t>Order: prerequisite → target → dependent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8">
            <a:extLst xmlns:a="http://schemas.openxmlformats.org/drawingml/2006/main">
              <a:ext uri="{FF2B5EF4-FFF2-40B4-BE49-F238E27FC236}">
                <a16:creationId xmlns:a16="http://schemas.microsoft.com/office/drawing/2014/main" id="{78F4671D-4D4C-44E4-8C2E-87608E31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AI / ML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8">
            <a:extLst xmlns:a="http://schemas.openxmlformats.org/drawingml/2006/main">
              <a:ext uri="{FF2B5EF4-FFF2-40B4-BE49-F238E27FC236}">
                <a16:creationId xmlns:a16="http://schemas.microsoft.com/office/drawing/2014/main" id="{596C1B69-071B-4CFD-AF25-7449B701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6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6eb69fa5d4803"/>
          <a:stretch xmlns:a="http://schemas.openxmlformats.org/drawingml/2006/main"/>
        </p:blipFill>
        <p:spPr>
          <a:xfrm xmlns:a="http://schemas.openxmlformats.org/drawingml/2006/main">
            <a:off x="1149462" y="2560320"/>
            <a:ext cx="5199156" cy="29260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6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0AC08948-5153-4EC3-BA2E-35827141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EC33FBC0-D7A7-44DB-B8AF-B028F273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sz="2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9">
            <a:extLst xmlns:a="http://schemas.openxmlformats.org/drawingml/2006/main">
              <a:ext uri="{FF2B5EF4-FFF2-40B4-BE49-F238E27FC236}">
                <a16:creationId xmlns:a16="http://schemas.microsoft.com/office/drawing/2014/main" id="{020F0D92-C5AA-4A5B-9845-788A3194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960120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2500"/>
              <a:buFont typeface="Cambria"/>
              <a:buNone/>
            </a:pPr>
            <a:r>
              <a:rPr sz="2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IMPLEMENTATION &amp; TECH STACK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9">
            <a:extLst xmlns:a="http://schemas.openxmlformats.org/drawingml/2006/main">
              <a:ext uri="{FF2B5EF4-FFF2-40B4-BE49-F238E27FC236}">
                <a16:creationId xmlns:a16="http://schemas.microsoft.com/office/drawing/2014/main" id="{6112C5D4-89FD-4041-B993-A5580D92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 complete local-first stack, from evidence capture to adaptive learning.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9">
            <a:extLst xmlns:a="http://schemas.openxmlformats.org/drawingml/2006/main">
              <a:ext uri="{FF2B5EF4-FFF2-40B4-BE49-F238E27FC236}">
                <a16:creationId xmlns:a16="http://schemas.microsoft.com/office/drawing/2014/main" id="{8DCA97C0-E928-4602-ACAF-3DE3579F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52578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">
            <a:extLst xmlns:a="http://schemas.openxmlformats.org/drawingml/2006/main">
              <a:ext uri="{FF2B5EF4-FFF2-40B4-BE49-F238E27FC236}">
                <a16:creationId xmlns:a16="http://schemas.microsoft.com/office/drawing/2014/main" id="{3A5182F1-5D86-480D-9C7C-8FB97FAD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">
            <a:extLst xmlns:a="http://schemas.openxmlformats.org/drawingml/2006/main">
              <a:ext uri="{FF2B5EF4-FFF2-40B4-BE49-F238E27FC236}">
                <a16:creationId xmlns:a16="http://schemas.microsoft.com/office/drawing/2014/main" id="{ED9A36F0-DFCD-4DD1-BE0A-4F6EDFB5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05456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500"/>
              <a:buFont typeface="Cambria"/>
              <a:buNone/>
            </a:pPr>
            <a:r>
              <a:rPr sz="1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Languages &amp; Frameworks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6B766AE5-D0B6-4524-8CE8-870A8508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907792"/>
            <a:ext cx="43434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Python 3.12, FastAPI, Next.js 16, React 19, TypeScript and Kotlin.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9">
            <a:extLst xmlns:a="http://schemas.openxmlformats.org/drawingml/2006/main">
              <a:ext uri="{FF2B5EF4-FFF2-40B4-BE49-F238E27FC236}">
                <a16:creationId xmlns:a16="http://schemas.microsoft.com/office/drawing/2014/main" id="{BB1AEB6A-F907-4F12-B914-F0E14094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86000"/>
            <a:ext cx="52578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A5BF769F-FDBB-4F8E-AD0E-C550DC54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860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52882965-9C7F-498E-9395-1A9876E5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505456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500"/>
              <a:buFont typeface="Cambria"/>
              <a:buNone/>
            </a:pPr>
            <a:r>
              <a:rPr sz="1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Libraries &amp; APIs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9">
            <a:extLst xmlns:a="http://schemas.openxmlformats.org/drawingml/2006/main">
              <a:ext uri="{FF2B5EF4-FFF2-40B4-BE49-F238E27FC236}">
                <a16:creationId xmlns:a16="http://schemas.microsoft.com/office/drawing/2014/main" id="{D8F5E2FE-B444-408F-AB3A-05F8A7B6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907792"/>
            <a:ext cx="43434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SQLite, LanceDB, Sentence Transformers, Qwen reranker, Mermaid and KaTeX.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Google Shape;171;p9">
            <a:extLst xmlns:a="http://schemas.openxmlformats.org/drawingml/2006/main">
              <a:ext uri="{FF2B5EF4-FFF2-40B4-BE49-F238E27FC236}">
                <a16:creationId xmlns:a16="http://schemas.microsoft.com/office/drawing/2014/main" id="{44988C6A-7856-4F12-9F5F-141C424F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52578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>
            <a:extLst xmlns:a="http://schemas.openxmlformats.org/drawingml/2006/main">
              <a:ext uri="{FF2B5EF4-FFF2-40B4-BE49-F238E27FC236}">
                <a16:creationId xmlns:a16="http://schemas.microsoft.com/office/drawing/2014/main" id="{BA847201-8599-4CF0-92D9-D2A9649B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5312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">
            <a:extLst xmlns:a="http://schemas.openxmlformats.org/drawingml/2006/main">
              <a:ext uri="{FF2B5EF4-FFF2-40B4-BE49-F238E27FC236}">
                <a16:creationId xmlns:a16="http://schemas.microsoft.com/office/drawing/2014/main" id="{FFAA5F5C-C166-41AE-9189-616F5358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79976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500"/>
              <a:buFont typeface="Cambria"/>
              <a:buNone/>
            </a:pPr>
            <a:r>
              <a:rPr sz="1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Infrastructure &amp; Tools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Google Shape;174;p9">
            <a:extLst xmlns:a="http://schemas.openxmlformats.org/drawingml/2006/main">
              <a:ext uri="{FF2B5EF4-FFF2-40B4-BE49-F238E27FC236}">
                <a16:creationId xmlns:a16="http://schemas.microsoft.com/office/drawing/2014/main" id="{D833D478-0345-4CCD-A8D0-8647A8FB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782312"/>
            <a:ext cx="43434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Windows-local deployment with uv, pnpm, LM Studio, Git, pytest and ESLint.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Google Shape;175;p9">
            <a:extLst xmlns:a="http://schemas.openxmlformats.org/drawingml/2006/main">
              <a:ext uri="{FF2B5EF4-FFF2-40B4-BE49-F238E27FC236}">
                <a16:creationId xmlns:a16="http://schemas.microsoft.com/office/drawing/2014/main" id="{644C8E1B-592D-4E7B-ACF5-B39D2875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160520"/>
            <a:ext cx="52578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>
            <a:extLst xmlns:a="http://schemas.openxmlformats.org/drawingml/2006/main">
              <a:ext uri="{FF2B5EF4-FFF2-40B4-BE49-F238E27FC236}">
                <a16:creationId xmlns:a16="http://schemas.microsoft.com/office/drawing/2014/main" id="{BEC1F6F3-C409-4587-8423-B047BA5A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312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>
            <a:extLst xmlns:a="http://schemas.openxmlformats.org/drawingml/2006/main">
              <a:ext uri="{FF2B5EF4-FFF2-40B4-BE49-F238E27FC236}">
                <a16:creationId xmlns:a16="http://schemas.microsoft.com/office/drawing/2014/main" id="{DAC69E8F-FD80-41DC-888F-7D9C217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379976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500"/>
              <a:buFont typeface="Cambria"/>
              <a:buNone/>
            </a:pPr>
            <a:r>
              <a:rPr sz="1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Interface / Demo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Google Shape;178;p9">
            <a:extLst xmlns:a="http://schemas.openxmlformats.org/drawingml/2006/main">
              <a:ext uri="{FF2B5EF4-FFF2-40B4-BE49-F238E27FC236}">
                <a16:creationId xmlns:a16="http://schemas.microsoft.com/office/drawing/2014/main" id="{3920836A-B015-4E5C-8A62-EDC65CB2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782312"/>
            <a:ext cx="43434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Responsive web app, REST API, browser extension and optional Android client.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Google Shape;179;p9">
            <a:extLst xmlns:a="http://schemas.openxmlformats.org/drawingml/2006/main">
              <a:ext uri="{FF2B5EF4-FFF2-40B4-BE49-F238E27FC236}">
                <a16:creationId xmlns:a16="http://schemas.microsoft.com/office/drawing/2014/main" id="{9F02EA94-B47D-4B89-B9BF-1F55D314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AI / ML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" name="Google Shape;180;p9">
            <a:extLst xmlns:a="http://schemas.openxmlformats.org/drawingml/2006/main">
              <a:ext uri="{FF2B5EF4-FFF2-40B4-BE49-F238E27FC236}">
                <a16:creationId xmlns:a16="http://schemas.microsoft.com/office/drawing/2014/main" id="{10DC06F6-FB5E-4D59-A4D5-A0B4DA8B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7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896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10">
            <a:extLst xmlns:a="http://schemas.openxmlformats.org/drawingml/2006/main">
              <a:ext uri="{FF2B5EF4-FFF2-40B4-BE49-F238E27FC236}">
                <a16:creationId xmlns:a16="http://schemas.microsoft.com/office/drawing/2014/main" id="{AC3D294C-683B-4CBB-B925-ED2E1928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">
            <a:extLst xmlns:a="http://schemas.openxmlformats.org/drawingml/2006/main">
              <a:ext uri="{FF2B5EF4-FFF2-40B4-BE49-F238E27FC236}">
                <a16:creationId xmlns:a16="http://schemas.microsoft.com/office/drawing/2014/main" id="{019D44BC-54E3-46C2-867E-F52C0A7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sz="2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Google Shape;188;p10">
            <a:extLst xmlns:a="http://schemas.openxmlformats.org/drawingml/2006/main">
              <a:ext uri="{FF2B5EF4-FFF2-40B4-BE49-F238E27FC236}">
                <a16:creationId xmlns:a16="http://schemas.microsoft.com/office/drawing/2014/main" id="{BE5B4463-3944-40B6-8902-05D0D887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960120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2500"/>
              <a:buFont typeface="Cambria"/>
              <a:buNone/>
            </a:pPr>
            <a:r>
              <a:rPr sz="2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RESULTS &amp; EVALUATION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Google Shape;189;p10">
            <a:extLst xmlns:a="http://schemas.openxmlformats.org/drawingml/2006/main">
              <a:ext uri="{FF2B5EF4-FFF2-40B4-BE49-F238E27FC236}">
                <a16:creationId xmlns:a16="http://schemas.microsoft.com/office/drawing/2014/main" id="{0299DBCD-264D-4C6F-86C4-340CD3C8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7840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Testing verifies behaviour and reproducibility—not unmeasured learning gains.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Google Shape;190;p10">
            <a:extLst xmlns:a="http://schemas.openxmlformats.org/drawingml/2006/main">
              <a:ext uri="{FF2B5EF4-FFF2-40B4-BE49-F238E27FC236}">
                <a16:creationId xmlns:a16="http://schemas.microsoft.com/office/drawing/2014/main" id="{32A2C4FC-F60F-4B79-A681-7849C36E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251460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">
            <a:extLst xmlns:a="http://schemas.openxmlformats.org/drawingml/2006/main">
              <a:ext uri="{FF2B5EF4-FFF2-40B4-BE49-F238E27FC236}">
                <a16:creationId xmlns:a16="http://schemas.microsoft.com/office/drawing/2014/main" id="{209B7AD5-7CFB-4A2D-80DD-6C4419AA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C2D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00C2D1"/>
                </a:solidFill>
                <a:latin typeface="Cambria"/>
                <a:ea typeface="Cambria"/>
                <a:cs typeface="Cambria"/>
              </a:rPr>
              <a:t>252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Google Shape;192;p10">
            <a:extLst xmlns:a="http://schemas.openxmlformats.org/drawingml/2006/main">
              <a:ext uri="{FF2B5EF4-FFF2-40B4-BE49-F238E27FC236}">
                <a16:creationId xmlns:a16="http://schemas.microsoft.com/office/drawing/2014/main" id="{AF44C39B-5497-49B8-AA6A-9297BB73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Backend tests passed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" name="Google Shape;193;p10">
            <a:extLst xmlns:a="http://schemas.openxmlformats.org/drawingml/2006/main">
              <a:ext uri="{FF2B5EF4-FFF2-40B4-BE49-F238E27FC236}">
                <a16:creationId xmlns:a16="http://schemas.microsoft.com/office/drawing/2014/main" id="{74BE0FF2-233C-4311-976B-99C76F6F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606040"/>
            <a:ext cx="251460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">
            <a:extLst xmlns:a="http://schemas.openxmlformats.org/drawingml/2006/main">
              <a:ext uri="{FF2B5EF4-FFF2-40B4-BE49-F238E27FC236}">
                <a16:creationId xmlns:a16="http://schemas.microsoft.com/office/drawing/2014/main" id="{37A13A04-C9EC-47A4-9968-8E77CF0F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97180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C2D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00C2D1"/>
                </a:solidFill>
                <a:latin typeface="Cambria"/>
                <a:ea typeface="Cambria"/>
                <a:cs typeface="Cambria"/>
              </a:rPr>
              <a:t>0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Google Shape;195;p10">
            <a:extLst xmlns:a="http://schemas.openxmlformats.org/drawingml/2006/main">
              <a:ext uri="{FF2B5EF4-FFF2-40B4-BE49-F238E27FC236}">
                <a16:creationId xmlns:a16="http://schemas.microsoft.com/office/drawing/2014/main" id="{AD7754E5-6951-49FE-BF8A-51D7072B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84048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Duplicate records in tested replays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10">
            <a:extLst xmlns:a="http://schemas.openxmlformats.org/drawingml/2006/main">
              <a:ext uri="{FF2B5EF4-FFF2-40B4-BE49-F238E27FC236}">
                <a16:creationId xmlns:a16="http://schemas.microsoft.com/office/drawing/2014/main" id="{71F38240-70F2-4669-90A7-E0CD7A40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606040"/>
            <a:ext cx="251460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">
            <a:extLst xmlns:a="http://schemas.openxmlformats.org/drawingml/2006/main">
              <a:ext uri="{FF2B5EF4-FFF2-40B4-BE49-F238E27FC236}">
                <a16:creationId xmlns:a16="http://schemas.microsoft.com/office/drawing/2014/main" id="{13BD965E-1422-4386-A485-0F7CDC7B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7180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C2D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00C2D1"/>
                </a:solidFill>
                <a:latin typeface="Cambria"/>
                <a:ea typeface="Cambria"/>
                <a:cs typeface="Cambria"/>
              </a:rPr>
              <a:t>200 / 200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" name="Google Shape;198;p10">
            <a:extLst xmlns:a="http://schemas.openxmlformats.org/drawingml/2006/main">
              <a:ext uri="{FF2B5EF4-FFF2-40B4-BE49-F238E27FC236}">
                <a16:creationId xmlns:a16="http://schemas.microsoft.com/office/drawing/2014/main" id="{CB43407F-9654-4143-8236-A125368D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4048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Web / API health status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10">
            <a:extLst xmlns:a="http://schemas.openxmlformats.org/drawingml/2006/main">
              <a:ext uri="{FF2B5EF4-FFF2-40B4-BE49-F238E27FC236}">
                <a16:creationId xmlns:a16="http://schemas.microsoft.com/office/drawing/2014/main" id="{977F7491-D5D7-434B-9C70-C9336E4A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2606040"/>
            <a:ext cx="251460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">
            <a:extLst xmlns:a="http://schemas.openxmlformats.org/drawingml/2006/main">
              <a:ext uri="{FF2B5EF4-FFF2-40B4-BE49-F238E27FC236}">
                <a16:creationId xmlns:a16="http://schemas.microsoft.com/office/drawing/2014/main" id="{05E0130D-6539-469A-9A3C-7E25A79B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97180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C2D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00C2D1"/>
                </a:solidFill>
                <a:latin typeface="Cambria"/>
                <a:ea typeface="Cambria"/>
                <a:cs typeface="Cambria"/>
              </a:rPr>
              <a:t>8 / 8 / 3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10">
            <a:extLst xmlns:a="http://schemas.openxmlformats.org/drawingml/2006/main">
              <a:ext uri="{FF2B5EF4-FFF2-40B4-BE49-F238E27FC236}">
                <a16:creationId xmlns:a16="http://schemas.microsoft.com/office/drawing/2014/main" id="{0EFFF52E-8CAC-4338-BC1A-E04A76AE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384048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Concepts / edges / evidence sources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" name="Google Shape;202;p10">
            <a:extLst xmlns:a="http://schemas.openxmlformats.org/drawingml/2006/main">
              <a:ext uri="{FF2B5EF4-FFF2-40B4-BE49-F238E27FC236}">
                <a16:creationId xmlns:a16="http://schemas.microsoft.com/office/drawing/2014/main" id="{D660A336-44B3-4AFB-B983-2CB98AC0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Frontend lint, TypeScript, production build and browser-extension checks also pass. Educational efficacy and latency benchmarking remain future work.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10">
            <a:extLst xmlns:a="http://schemas.openxmlformats.org/drawingml/2006/main">
              <a:ext uri="{FF2B5EF4-FFF2-40B4-BE49-F238E27FC236}">
                <a16:creationId xmlns:a16="http://schemas.microsoft.com/office/drawing/2014/main" id="{D132636D-6432-45F4-9A9F-C80C3AD0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AI / ML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p10">
            <a:extLst xmlns:a="http://schemas.openxmlformats.org/drawingml/2006/main">
              <a:ext uri="{FF2B5EF4-FFF2-40B4-BE49-F238E27FC236}">
                <a16:creationId xmlns:a16="http://schemas.microsoft.com/office/drawing/2014/main" id="{57D2E951-0605-4663-9A61-FAC12DA7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8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9570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Google Shape;210;p11">
            <a:extLst xmlns:a="http://schemas.openxmlformats.org/drawingml/2006/main">
              <a:ext uri="{FF2B5EF4-FFF2-40B4-BE49-F238E27FC236}">
                <a16:creationId xmlns:a16="http://schemas.microsoft.com/office/drawing/2014/main" id="{F8BADE2A-E4B2-4D6E-AED4-6AF16A30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">
            <a:extLst xmlns:a="http://schemas.openxmlformats.org/drawingml/2006/main">
              <a:ext uri="{FF2B5EF4-FFF2-40B4-BE49-F238E27FC236}">
                <a16:creationId xmlns:a16="http://schemas.microsoft.com/office/drawing/2014/main" id="{6FF1694F-9A6C-4B48-9989-48BC3B58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sz="2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" name="Google Shape;212;p11">
            <a:extLst xmlns:a="http://schemas.openxmlformats.org/drawingml/2006/main">
              <a:ext uri="{FF2B5EF4-FFF2-40B4-BE49-F238E27FC236}">
                <a16:creationId xmlns:a16="http://schemas.microsoft.com/office/drawing/2014/main" id="{07C098B5-B87E-4053-8601-6DDA8498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960120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2500"/>
              <a:buFont typeface="Cambria"/>
              <a:buNone/>
            </a:pPr>
            <a:r>
              <a:rPr sz="2500" b="1" i="0" u="none" cap="none">
                <a:solidFill>
                  <a:srgbClr val="1B2A6B"/>
                </a:solidFill>
                <a:latin typeface="Cambria"/>
                <a:ea typeface="Cambria"/>
                <a:cs typeface="Cambria"/>
              </a:rPr>
              <a:t>APPLICATIONS &amp; FUTURE SCOPE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11">
            <a:extLst xmlns:a="http://schemas.openxmlformats.org/drawingml/2006/main">
              <a:ext uri="{FF2B5EF4-FFF2-40B4-BE49-F238E27FC236}">
                <a16:creationId xmlns:a16="http://schemas.microsoft.com/office/drawing/2014/main" id="{38BC4B69-645E-4AE6-A6C0-38EE4339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The same foundation supports individual study today and institutional evaluation next.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11">
            <a:extLst xmlns:a="http://schemas.openxmlformats.org/drawingml/2006/main">
              <a:ext uri="{FF2B5EF4-FFF2-40B4-BE49-F238E27FC236}">
                <a16:creationId xmlns:a16="http://schemas.microsoft.com/office/drawing/2014/main" id="{A4774A58-1A4C-4810-8D5F-CBB274E8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3346704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">
            <a:extLst xmlns:a="http://schemas.openxmlformats.org/drawingml/2006/main">
              <a:ext uri="{FF2B5EF4-FFF2-40B4-BE49-F238E27FC236}">
                <a16:creationId xmlns:a16="http://schemas.microsoft.com/office/drawing/2014/main" id="{71168230-053B-44FD-8C4B-1B804414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60320"/>
            <a:ext cx="279806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C7AE4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8C7AE4"/>
                </a:solidFill>
                <a:latin typeface="Calibri"/>
                <a:ea typeface="Calibri"/>
                <a:cs typeface="Calibri"/>
              </a:rPr>
              <a:t>REAL-WORLD USE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11">
            <a:extLst xmlns:a="http://schemas.openxmlformats.org/drawingml/2006/main">
              <a:ext uri="{FF2B5EF4-FFF2-40B4-BE49-F238E27FC236}">
                <a16:creationId xmlns:a16="http://schemas.microsoft.com/office/drawing/2014/main" id="{99B55660-94D6-429A-8D43-5B58281A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63240"/>
            <a:ext cx="279806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Calibri"/>
              <a:buNone/>
            </a:pPr>
            <a:r>
              <a:rPr sz="135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Exam preparation
Course revision
Prerequisite recovery
Evidence-grounded tutoring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7" name="Google Shape;217;p11">
            <a:extLst xmlns:a="http://schemas.openxmlformats.org/drawingml/2006/main">
              <a:ext uri="{FF2B5EF4-FFF2-40B4-BE49-F238E27FC236}">
                <a16:creationId xmlns:a16="http://schemas.microsoft.com/office/drawing/2014/main" id="{849CAF91-B8A8-470E-B713-924DD4A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2286000"/>
            <a:ext cx="3346704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">
            <a:extLst xmlns:a="http://schemas.openxmlformats.org/drawingml/2006/main">
              <a:ext uri="{FF2B5EF4-FFF2-40B4-BE49-F238E27FC236}">
                <a16:creationId xmlns:a16="http://schemas.microsoft.com/office/drawing/2014/main" id="{7084D9CF-75D7-4E58-B35A-6EC4F89F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560320"/>
            <a:ext cx="279806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C7AE4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8C7AE4"/>
                </a:solidFill>
                <a:latin typeface="Calibri"/>
                <a:ea typeface="Calibri"/>
                <a:cs typeface="Calibri"/>
              </a:rPr>
              <a:t>CURRENT LIMITATION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11">
            <a:extLst xmlns:a="http://schemas.openxmlformats.org/drawingml/2006/main">
              <a:ext uri="{FF2B5EF4-FFF2-40B4-BE49-F238E27FC236}">
                <a16:creationId xmlns:a16="http://schemas.microsoft.com/office/drawing/2014/main" id="{BE839017-B524-46C4-996A-EC69707C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063240"/>
            <a:ext cx="279806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Calibri"/>
              <a:buNone/>
            </a:pPr>
            <a:r>
              <a:rPr sz="1350" b="0" i="1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Single-user local deployment
No large-cohort efficacy study
Hardware-dependent model performance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0" name="Google Shape;220;p11">
            <a:extLst xmlns:a="http://schemas.openxmlformats.org/drawingml/2006/main">
              <a:ext uri="{FF2B5EF4-FFF2-40B4-BE49-F238E27FC236}">
                <a16:creationId xmlns:a16="http://schemas.microsoft.com/office/drawing/2014/main" id="{15A7D754-46EE-4598-A69E-E0590C77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286000"/>
            <a:ext cx="3346704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B2A6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5400000" algn="bl" rotWithShape="0">
              <a:srgbClr val="808080">
                <a:alpha val="18039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">
            <a:extLst xmlns:a="http://schemas.openxmlformats.org/drawingml/2006/main">
              <a:ext uri="{FF2B5EF4-FFF2-40B4-BE49-F238E27FC236}">
                <a16:creationId xmlns:a16="http://schemas.microsoft.com/office/drawing/2014/main" id="{A44BA002-9973-43BD-8579-54728EE4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560320"/>
            <a:ext cx="279806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C2D1"/>
              </a:buClr>
              <a:buSzPts val="1250"/>
              <a:buFont typeface="Calibri"/>
              <a:buNone/>
            </a:pPr>
            <a:r>
              <a:rPr sz="1250" b="1" i="0" u="none" cap="none">
                <a:solidFill>
                  <a:srgbClr val="00C2D1"/>
                </a:solidFill>
                <a:latin typeface="Calibri"/>
                <a:ea typeface="Calibri"/>
                <a:cs typeface="Calibri"/>
              </a:rPr>
              <a:t>FUTURE SCOPE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Google Shape;222;p11">
            <a:extLst xmlns:a="http://schemas.openxmlformats.org/drawingml/2006/main">
              <a:ext uri="{FF2B5EF4-FFF2-40B4-BE49-F238E27FC236}">
                <a16:creationId xmlns:a16="http://schemas.microsoft.com/office/drawing/2014/main" id="{CF5F8658-DBEC-4544-8D57-85B6B22D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63240"/>
            <a:ext cx="279806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350"/>
              <a:buFont typeface="Calibri"/>
              <a:buNone/>
            </a:pPr>
            <a:r>
              <a:rPr sz="1350" b="0" i="1" u="none" cap="none">
                <a:solidFill>
                  <a:srgbClr val="D6DAF2"/>
                </a:solidFill>
                <a:latin typeface="Calibri"/>
                <a:ea typeface="Calibri"/>
                <a:cs typeface="Calibri"/>
              </a:rPr>
              <a:t>Instructor-labelled evaluation
Multi-user dashboards
Learning-gain studies
Latency and retrieval ablations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11">
            <a:extLst xmlns:a="http://schemas.openxmlformats.org/drawingml/2006/main">
              <a:ext uri="{FF2B5EF4-FFF2-40B4-BE49-F238E27FC236}">
                <a16:creationId xmlns:a16="http://schemas.microsoft.com/office/drawing/2014/main" id="{98803A71-43B1-40F2-A461-5BD99EC2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AI / ML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11">
            <a:extLst xmlns:a="http://schemas.openxmlformats.org/drawingml/2006/main">
              <a:ext uri="{FF2B5EF4-FFF2-40B4-BE49-F238E27FC236}">
                <a16:creationId xmlns:a16="http://schemas.microsoft.com/office/drawing/2014/main" id="{BA5FEE86-AA43-4617-AD2D-934E8406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9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05078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0" name="Google Shape;230;p12">
            <a:extLst xmlns:a="http://schemas.openxmlformats.org/drawingml/2006/main">
              <a:ext uri="{FF2B5EF4-FFF2-40B4-BE49-F238E27FC236}">
                <a16:creationId xmlns:a16="http://schemas.microsoft.com/office/drawing/2014/main" id="{B74245BB-595B-4943-A843-9F0267C1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5920" y="420624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A6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">
            <a:extLst xmlns:a="http://schemas.openxmlformats.org/drawingml/2006/main">
              <a:ext uri="{FF2B5EF4-FFF2-40B4-BE49-F238E27FC236}">
                <a16:creationId xmlns:a16="http://schemas.microsoft.com/office/drawing/2014/main" id="{E1400E06-1B25-492D-9B59-063AAFA0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C7AE4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8C7AE4"/>
                </a:solidFill>
                <a:latin typeface="Calibri"/>
                <a:ea typeface="Calibri"/>
                <a:cs typeface="Calibri"/>
              </a:rPr>
              <a:t>CONCLUSION &amp; TEAM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2" name="Google Shape;232;p12">
            <a:extLst xmlns:a="http://schemas.openxmlformats.org/drawingml/2006/main">
              <a:ext uri="{FF2B5EF4-FFF2-40B4-BE49-F238E27FC236}">
                <a16:creationId xmlns:a16="http://schemas.microsoft.com/office/drawing/2014/main" id="{54BDA5AE-994E-400F-9540-A553CE96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mbria"/>
              <a:buNone/>
            </a:pPr>
            <a:r>
              <a:rPr sz="25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Axiom Trace makes RAG personal by connecting evidence, prerequisites, mastery and the next learning action.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3" name="Google Shape;233;p12">
            <a:extLst xmlns:a="http://schemas.openxmlformats.org/drawingml/2006/main">
              <a:ext uri="{FF2B5EF4-FFF2-40B4-BE49-F238E27FC236}">
                <a16:creationId xmlns:a16="http://schemas.microsoft.com/office/drawing/2014/main" id="{575D9505-ACBD-4780-B998-788F2700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50" y="2286000"/>
            <a:ext cx="1195200" cy="11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">
            <a:extLst xmlns:a="http://schemas.openxmlformats.org/drawingml/2006/main">
              <a:ext uri="{FF2B5EF4-FFF2-40B4-BE49-F238E27FC236}">
                <a16:creationId xmlns:a16="http://schemas.microsoft.com/office/drawing/2014/main" id="{4AFD9876-588F-47E8-9A98-9D5F2B7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50" y="2286000"/>
            <a:ext cx="1195200" cy="11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0162F"/>
              </a:buClr>
              <a:buSzPts val="1500"/>
              <a:buFont typeface="Cambria"/>
              <a:buNone/>
            </a:pPr>
            <a:r>
              <a:rPr sz="1500" b="1" i="0" u="none" cap="none">
                <a:solidFill>
                  <a:srgbClr val="10162F"/>
                </a:solidFill>
                <a:latin typeface="Cambria"/>
                <a:ea typeface="Cambria"/>
                <a:cs typeface="Cambria"/>
              </a:rPr>
              <a:t>MV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Google Shape;235;p12">
            <a:extLst xmlns:a="http://schemas.openxmlformats.org/drawingml/2006/main">
              <a:ext uri="{FF2B5EF4-FFF2-40B4-BE49-F238E27FC236}">
                <a16:creationId xmlns:a16="http://schemas.microsoft.com/office/drawing/2014/main" id="{1E758596-DC4F-47BA-8424-15D86F22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1752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E3E6FA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E3E6FA"/>
                </a:solidFill>
                <a:latin typeface="Calibri"/>
                <a:ea typeface="Calibri"/>
                <a:cs typeface="Calibri"/>
              </a:rPr>
              <a:t>Maadhav V H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Google Shape;236;p12">
            <a:extLst xmlns:a="http://schemas.openxmlformats.org/drawingml/2006/main">
              <a:ext uri="{FF2B5EF4-FFF2-40B4-BE49-F238E27FC236}">
                <a16:creationId xmlns:a16="http://schemas.microsoft.com/office/drawing/2014/main" id="{C1823AFB-E0E7-45C3-B1F8-AC9E379C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162" y="2286000"/>
            <a:ext cx="1195200" cy="11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7AE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">
            <a:extLst xmlns:a="http://schemas.openxmlformats.org/drawingml/2006/main">
              <a:ext uri="{FF2B5EF4-FFF2-40B4-BE49-F238E27FC236}">
                <a16:creationId xmlns:a16="http://schemas.microsoft.com/office/drawing/2014/main" id="{A412A77F-D538-4F9B-A361-313BF616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162" y="2286000"/>
            <a:ext cx="1195200" cy="11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0162F"/>
              </a:buClr>
              <a:buSzPts val="1500"/>
              <a:buFont typeface="Cambria"/>
              <a:buNone/>
            </a:pPr>
            <a:r>
              <a:rPr sz="1500" b="1" i="0" u="none" cap="none">
                <a:solidFill>
                  <a:srgbClr val="10162F"/>
                </a:solidFill>
                <a:latin typeface="Cambria"/>
                <a:ea typeface="Cambria"/>
                <a:cs typeface="Cambria"/>
              </a:rPr>
              <a:t>SA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8" name="Google Shape;238;p12">
            <a:extLst xmlns:a="http://schemas.openxmlformats.org/drawingml/2006/main">
              <a:ext uri="{FF2B5EF4-FFF2-40B4-BE49-F238E27FC236}">
                <a16:creationId xmlns:a16="http://schemas.microsoft.com/office/drawing/2014/main" id="{E1F61474-3DEF-4772-8752-65CCC3FE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468" y="301752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E3E6FA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E3E6FA"/>
                </a:solidFill>
                <a:latin typeface="Calibri"/>
                <a:ea typeface="Calibri"/>
                <a:cs typeface="Calibri"/>
              </a:rPr>
              <a:t>Sachin A S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9" name="Google Shape;239;p12">
            <a:extLst xmlns:a="http://schemas.openxmlformats.org/drawingml/2006/main">
              <a:ext uri="{FF2B5EF4-FFF2-40B4-BE49-F238E27FC236}">
                <a16:creationId xmlns:a16="http://schemas.microsoft.com/office/drawing/2014/main" id="{D5499685-7F05-4990-8758-10DBEE55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874" y="2286000"/>
            <a:ext cx="1195200" cy="11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D1D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">
            <a:extLst xmlns:a="http://schemas.openxmlformats.org/drawingml/2006/main">
              <a:ext uri="{FF2B5EF4-FFF2-40B4-BE49-F238E27FC236}">
                <a16:creationId xmlns:a16="http://schemas.microsoft.com/office/drawing/2014/main" id="{4873FFD2-FBE6-4A7D-9BB8-564E5689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874" y="2286000"/>
            <a:ext cx="1195200" cy="11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0162F"/>
              </a:buClr>
              <a:buSzPts val="1500"/>
              <a:buFont typeface="Cambria"/>
              <a:buNone/>
            </a:pPr>
            <a:r>
              <a:rPr sz="1500" b="1" i="0" u="none" cap="none">
                <a:solidFill>
                  <a:srgbClr val="10162F"/>
                </a:solidFill>
                <a:latin typeface="Cambria"/>
                <a:ea typeface="Cambria"/>
                <a:cs typeface="Cambria"/>
              </a:rPr>
              <a:t>AT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1" name="Google Shape;241;p12">
            <a:extLst xmlns:a="http://schemas.openxmlformats.org/drawingml/2006/main">
              <a:ext uri="{FF2B5EF4-FFF2-40B4-BE49-F238E27FC236}">
                <a16:creationId xmlns:a16="http://schemas.microsoft.com/office/drawing/2014/main" id="{B8681413-8167-4B27-8EB9-759E01BA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119" y="301752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E3E6FA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E3E6FA"/>
                </a:solidFill>
                <a:latin typeface="Calibri"/>
                <a:ea typeface="Calibri"/>
                <a:cs typeface="Calibri"/>
              </a:rPr>
              <a:t>Axiom Trace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2" name="Google Shape;242;p12">
            <a:extLst xmlns:a="http://schemas.openxmlformats.org/drawingml/2006/main">
              <a:ext uri="{FF2B5EF4-FFF2-40B4-BE49-F238E27FC236}">
                <a16:creationId xmlns:a16="http://schemas.microsoft.com/office/drawing/2014/main" id="{F3CF5D57-B6AF-4384-8035-EAD6B968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11094415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B2A6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">
            <a:extLst xmlns:a="http://schemas.openxmlformats.org/drawingml/2006/main">
              <a:ext uri="{FF2B5EF4-FFF2-40B4-BE49-F238E27FC236}">
                <a16:creationId xmlns:a16="http://schemas.microsoft.com/office/drawing/2014/main" id="{571FA79B-640F-4682-96E8-ED0EDF71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0752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C2D1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00C2D1"/>
                </a:solidFill>
                <a:latin typeface="Calibri"/>
                <a:ea typeface="Calibri"/>
                <a:cs typeface="Calibri"/>
              </a:rPr>
              <a:t>PROJECT REPOSITORY / DEMO LINK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Google Shape;244;p12">
            <a:extLst xmlns:a="http://schemas.openxmlformats.org/drawingml/2006/main">
              <a:ext uri="{FF2B5EF4-FFF2-40B4-BE49-F238E27FC236}">
                <a16:creationId xmlns:a16="http://schemas.microsoft.com/office/drawing/2014/main" id="{BA0B161A-317F-415A-8ED2-5B043B67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9936"/>
            <a:ext cx="1036289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9ECF7"/>
              </a:buClr>
              <a:buSzPts val="1400"/>
              <a:buFont typeface="Calibri"/>
              <a:buNone/>
            </a:pPr>
            <a:r>
              <a:rPr sz="1400" b="0" i="1" u="none" cap="none">
                <a:solidFill>
                  <a:srgbClr val="E9ECF7"/>
                </a:solidFill>
                <a:latin typeface="Calibri"/>
                <a:ea typeface="Calibri"/>
                <a:cs typeface="Calibri"/>
              </a:rPr>
              <a:t>Repository and live demo available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12">
            <a:extLst xmlns:a="http://schemas.openxmlformats.org/drawingml/2006/main">
              <a:ext uri="{FF2B5EF4-FFF2-40B4-BE49-F238E27FC236}">
                <a16:creationId xmlns:a16="http://schemas.microsoft.com/office/drawing/2014/main" id="{15E51C78-C146-48C7-BC4D-CB1BF939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5486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C2D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00C2D1"/>
                </a:solidFill>
                <a:latin typeface="Cambria"/>
                <a:ea typeface="Cambria"/>
                <a:cs typeface="Cambria"/>
              </a:rPr>
              <a:t>Thank you!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6" name="Google Shape;246;p12">
            <a:extLst xmlns:a="http://schemas.openxmlformats.org/drawingml/2006/main">
              <a:ext uri="{FF2B5EF4-FFF2-40B4-BE49-F238E27FC236}">
                <a16:creationId xmlns:a16="http://schemas.microsoft.com/office/drawing/2014/main" id="{42DB73F7-8BB5-40C4-A9E4-8C5F153F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778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6CBE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C6CBEF"/>
                </a:solidFill>
                <a:latin typeface="Calibri"/>
                <a:ea typeface="Calibri"/>
                <a:cs typeface="Calibri"/>
              </a:rPr>
              <a:t>Highest in the Room  ·  KPRIET  ·  ECE / CSE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9728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2026-08-16T09:26:19.7470000Z</dcterms:created>
  <dcterms:modified xsi:type="dcterms:W3CDTF">2026-08-16T09:26:19.7470000Z</dcterms:modified>
</coreProperties>
</file>