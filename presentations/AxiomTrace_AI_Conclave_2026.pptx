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39b5b3a3284e5d" /><Relationship Type="http://schemas.openxmlformats.org/officeDocument/2006/relationships/extended-properties" Target="/docProps/app.xml" Id="Rdf7989e4f26c42fa" /><Relationship Type="http://schemas.openxmlformats.org/officeDocument/2006/relationships/officeDocument" Target="/ppt/presentation.xml" Id="R3542740a88764d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490beeb3f64190"/>
  </p:sldMasterIdLst>
  <p:notesMasterIdLst>
    <p:notesMasterId xmlns:r="http://schemas.openxmlformats.org/officeDocument/2006/relationships" r:id="Rbc042ea9aab34332"/>
  </p:notesMasterIdLst>
  <p:sldIdLst>
    <p:sldId xmlns:r="http://schemas.openxmlformats.org/officeDocument/2006/relationships" id="256" r:id="R0e65a37df08f4791"/>
    <p:sldId xmlns:r="http://schemas.openxmlformats.org/officeDocument/2006/relationships" id="257" r:id="R91680a9a15494315"/>
    <p:sldId xmlns:r="http://schemas.openxmlformats.org/officeDocument/2006/relationships" id="258" r:id="R871bca9d920d43f7"/>
    <p:sldId xmlns:r="http://schemas.openxmlformats.org/officeDocument/2006/relationships" id="259" r:id="Ra53cc6c79d154a71"/>
    <p:sldId xmlns:r="http://schemas.openxmlformats.org/officeDocument/2006/relationships" id="260" r:id="R71ff76a69f214276"/>
    <p:sldId xmlns:r="http://schemas.openxmlformats.org/officeDocument/2006/relationships" id="261" r:id="R2b725f5b23514597"/>
    <p:sldId xmlns:r="http://schemas.openxmlformats.org/officeDocument/2006/relationships" id="262" r:id="R572f6c8a015742a2"/>
    <p:sldId xmlns:r="http://schemas.openxmlformats.org/officeDocument/2006/relationships" id="263" r:id="R28c0ae05fdac4db2"/>
    <p:sldId xmlns:r="http://schemas.openxmlformats.org/officeDocument/2006/relationships" id="264" r:id="R6303518e8f7c41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f6a61da0154d85" /><Relationship Type="http://schemas.openxmlformats.org/officeDocument/2006/relationships/slideMaster" Target="/ppt/slideMasters/slideMaster1.xml" Id="R31490beeb3f64190" /><Relationship Type="http://schemas.openxmlformats.org/officeDocument/2006/relationships/notesMaster" Target="/ppt/notesMasters/notesMaster1.xml" Id="Rbc042ea9aab34332" /><Relationship Type="http://schemas.openxmlformats.org/officeDocument/2006/relationships/presProps" Target="/ppt/presProps.xml" Id="Rd7bd14ad4f8a4e6f" /><Relationship Type="http://schemas.openxmlformats.org/officeDocument/2006/relationships/viewProps" Target="/ppt/viewProps.xml" Id="R9639341e087341d9" /><Relationship Type="http://schemas.openxmlformats.org/officeDocument/2006/relationships/tableStyles" Target="/ppt/tableStyles.xml" Id="Rd32bf63fdfc94d5e" /><Relationship Type="http://schemas.openxmlformats.org/officeDocument/2006/relationships/slide" Target="/ppt/slides/slide1.xml" Id="R0e65a37df08f4791" /><Relationship Type="http://schemas.openxmlformats.org/officeDocument/2006/relationships/slide" Target="/ppt/slides/slide2.xml" Id="R91680a9a15494315" /><Relationship Type="http://schemas.openxmlformats.org/officeDocument/2006/relationships/slide" Target="/ppt/slides/slide3.xml" Id="R871bca9d920d43f7" /><Relationship Type="http://schemas.openxmlformats.org/officeDocument/2006/relationships/slide" Target="/ppt/slides/slide4.xml" Id="Ra53cc6c79d154a71" /><Relationship Type="http://schemas.openxmlformats.org/officeDocument/2006/relationships/slide" Target="/ppt/slides/slide5.xml" Id="R71ff76a69f214276" /><Relationship Type="http://schemas.openxmlformats.org/officeDocument/2006/relationships/slide" Target="/ppt/slides/slide6.xml" Id="R2b725f5b23514597" /><Relationship Type="http://schemas.openxmlformats.org/officeDocument/2006/relationships/slide" Target="/ppt/slides/slide7.xml" Id="R572f6c8a015742a2" /><Relationship Type="http://schemas.openxmlformats.org/officeDocument/2006/relationships/slide" Target="/ppt/slides/slide8.xml" Id="R28c0ae05fdac4db2" /><Relationship Type="http://schemas.openxmlformats.org/officeDocument/2006/relationships/slide" Target="/ppt/slides/slide9.xml" Id="R6303518e8f7c41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699f292c944b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c8e510dd694ff7" /><Relationship Type="http://schemas.openxmlformats.org/officeDocument/2006/relationships/notesMaster" Target="/ppt/notesMasters/notesMaster1.xml" Id="R18a3d60af6694d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0237e171054aa3" /><Relationship Type="http://schemas.openxmlformats.org/officeDocument/2006/relationships/notesMaster" Target="/ppt/notesMasters/notesMaster1.xml" Id="Rfba890144b7946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b1cec9d1bc435f" /><Relationship Type="http://schemas.openxmlformats.org/officeDocument/2006/relationships/notesMaster" Target="/ppt/notesMasters/notesMaster1.xml" Id="Rcd1073b6bee647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051a1d0a9c4f2b" /><Relationship Type="http://schemas.openxmlformats.org/officeDocument/2006/relationships/notesMaster" Target="/ppt/notesMasters/notesMaster1.xml" Id="R63706dff10f947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12527a77be4e35" /><Relationship Type="http://schemas.openxmlformats.org/officeDocument/2006/relationships/notesMaster" Target="/ppt/notesMasters/notesMaster1.xml" Id="Ra093d66cc9b94a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00620267064428" /><Relationship Type="http://schemas.openxmlformats.org/officeDocument/2006/relationships/notesMaster" Target="/ppt/notesMasters/notesMaster1.xml" Id="R2adc282e5e0540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3f22ec4fa14365" /><Relationship Type="http://schemas.openxmlformats.org/officeDocument/2006/relationships/notesMaster" Target="/ppt/notesMasters/notesMaster1.xml" Id="R70193e5958b947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39979e44024440" /><Relationship Type="http://schemas.openxmlformats.org/officeDocument/2006/relationships/notesMaster" Target="/ppt/notesMasters/notesMaster1.xml" Id="R083379ebfddf40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87849a644c4507" /><Relationship Type="http://schemas.openxmlformats.org/officeDocument/2006/relationships/notesMaster" Target="/ppt/notesMasters/notesMaster1.xml" Id="R61767f294c49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Embedded project architecture image from the supplied template and C:/Users/maadh/Desktop/AxiomTrace/docs/assets/axiom-trace-system-architecture.png; accessed 2026-08-16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C:/Users/maadh/Desktop/AxiomTrace (local verification run and seeded demo; accessed 2026-08-16)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08e2171d34b5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ab5139d97f4c82" /><Relationship Type="http://schemas.openxmlformats.org/officeDocument/2006/relationships/slideLayout" Target="/ppt/slideLayouts/slideLayout1.xml" Id="Rcae07002c8e84aa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e07002c8e84aa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3ab51d95a419d" /><Relationship Type="http://schemas.openxmlformats.org/officeDocument/2006/relationships/notesSlide" Target="/ppt/notesSlides/notesSlide1.xml" Id="R2fe89e5e439a47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e0edc142440fe" /><Relationship Type="http://schemas.openxmlformats.org/officeDocument/2006/relationships/notesSlide" Target="/ppt/notesSlides/notesSlide2.xml" Id="R7b0e9586ab9b45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70ad91e41499f" /><Relationship Type="http://schemas.openxmlformats.org/officeDocument/2006/relationships/notesSlide" Target="/ppt/notesSlides/notesSlide3.xml" Id="Rb145941106164f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4a57fb28143af" /><Relationship Type="http://schemas.openxmlformats.org/officeDocument/2006/relationships/image" Target="/ppt/media/image.png" Id="Re828e749003a4703" /><Relationship Type="http://schemas.openxmlformats.org/officeDocument/2006/relationships/notesSlide" Target="/ppt/notesSlides/notesSlide4.xml" Id="R5705d7191ef449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ffa918843434c" /><Relationship Type="http://schemas.openxmlformats.org/officeDocument/2006/relationships/notesSlide" Target="/ppt/notesSlides/notesSlide5.xml" Id="Ra54acc33c4ec42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cb04899364e2e" /><Relationship Type="http://schemas.openxmlformats.org/officeDocument/2006/relationships/notesSlide" Target="/ppt/notesSlides/notesSlide6.xml" Id="R928b9889ca1741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586c686f7431b" /><Relationship Type="http://schemas.openxmlformats.org/officeDocument/2006/relationships/notesSlide" Target="/ppt/notesSlides/notesSlide7.xml" Id="Rebcd286363a040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d883239f847a9" /><Relationship Type="http://schemas.openxmlformats.org/officeDocument/2006/relationships/notesSlide" Target="/ppt/notesSlides/notesSlide8.xml" Id="Rc8e10d47402645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a89060df84f38" /><Relationship Type="http://schemas.openxmlformats.org/officeDocument/2006/relationships/notesSlide" Target="/ppt/notesSlides/notesSlide9.xml" Id="R8ba22d6e48164d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B8A712-EF29-46C8-8B18-85A902B7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2F4858"/>
                </a:solidFill>
                <a:latin typeface="Arial"/>
                <a:ea typeface="Arial"/>
                <a:cs typeface="Arial"/>
              </a:rPr>
              <a:t>AI &amp; ML Conclave 2026 — AXIOM TRACE</a:t>
            </a:r>
            <a:endParaRPr sz="4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D84917-E5BB-4CB0-BFF1-76F574ED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82335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Name: Highest in the Room</a:t>
            </a:r>
            <a:endParaRPr sz="1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FAB58C0-21EA-4FD8-B36F-9D6E1D5C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buSzPct val="100000"/>
              <a:buNone/>
            </a:pP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303A86-2FE7-4D1A-8F86-4A663AF9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9" y="2377440"/>
            <a:ext cx="779819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Institution Name: KPR Institute of Engineering and Technology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23FEAA6-85E4-483C-AE86-B8F8680E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53713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Department: ECE &amp; CSE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DA6CFBE-8E2E-4972-80A9-EA17E1B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02353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Theme: T2 — Personalized Educational AI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A99D5B0-7C28-4859-A1D7-A9B8DCF1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05273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Sub-Theme: T2-2 — Knowledge-Graph-Guided RAG Transformer for Personalized Student Knowledge-Tracing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2CB4EB2-CCE0-470C-840F-9081BC98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08193"/>
            <a:ext cx="7315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Members: Maadhav V H, Sachin A S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E00C33-AED1-49EC-9438-D1F1EF1D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53212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E42E8A8-D65B-497C-B477-80901889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321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E28F49B-276F-4E9A-8088-45F5B68D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53212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E8D1F78-E08E-4BE1-AE84-ED9D68A7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98932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893455E-B89B-4155-B456-8EF39022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893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FF832CC-E8D8-440A-B2D9-7223914A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98932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5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30F20AD-7BAB-464C-BC75-4D597BA5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644652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A8290F1-AE16-41D6-A40A-E5EC96E7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465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714922-9545-4D83-A724-F0DB050E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644652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340483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221DB1-1DEC-44A6-81A2-C94D5532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INTRODUCTION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68DCED-87AE-4C28-929D-4EA8BC25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" y="178308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r>
              <a:rPr sz="2000"/>
              <a:t>• Students learn from disconnected notes, PDFs, websites, and assessments, but conventional assistants do not connect this evidence to individual knowledge gaps.</a:t>
            </a:r>
          </a:p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2000"/>
          </a:p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r>
              <a:rPr sz="2000"/>
              <a:t>• Domain: Educational AI, personalized learning, Bayesian Knowledge Tracing, knowledge graphs, and explainable Retrieval-Augmented Generation.</a:t>
            </a:r>
          </a:p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2000"/>
          </a:p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r>
              <a:rPr sz="2000"/>
              <a:t>• Axiom Trace is a local-first learning assistant that tracks concept mastery and retrieves evidence through the prerequisite paths that matter most to each student.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D87177A-DE09-49CC-A66A-8AF1E8D2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BC78DC1-6F72-4875-AA6E-0100D570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F4C5FA2-4883-4830-B458-A44B6756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85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E0A9965-8E27-4A59-BAA4-BE37C365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Conclave  - 2026 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7663FA9-A493-4381-AB47-AA7AB4E0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446520"/>
            <a:ext cx="548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932211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15FDC93-90F9-4E37-82F4-DCFA2CF3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 DEFINITION &amp; OBJECTIVE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D9B277-17E0-420E-88DE-83D96D23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buSzPct val="100000"/>
              <a:buNone/>
            </a:pPr>
            <a:r>
              <a:rPr sz="14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</a:t>
            </a:r>
          </a:p>
          <a:p xmlns:a="http://schemas.openxmlformats.org/drawingml/2006/main">
            <a:pPr algn="just">
              <a:buSzPct val="100000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Conventional RAG retrieves semantically similar text but ignores prerequisite relationships and student mastery.</a:t>
            </a:r>
          </a:p>
          <a:p xmlns:a="http://schemas.openxmlformats.org/drawingml/2006/main">
            <a:pPr algn="just">
              <a:buSzPct val="100000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Existing knowledge-tracing systems often estimate performance without grounding explanations in the student’s own learning material.</a:t>
            </a:r>
          </a:p>
          <a:p xmlns:a="http://schemas.openxmlformats.org/drawingml/2006/main">
            <a:pPr algn="just">
              <a:buSzPct val="100000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4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Objectives</a:t>
            </a:r>
          </a:p>
          <a:p xmlns:a="http://schemas.openxmlformats.org/drawingml/2006/main">
            <a:pPr algn="just">
              <a:buSzPct val="100000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Convert notes, PDFs, and attention-qualified browser reading into a unified evidence base.</a:t>
            </a:r>
          </a:p>
          <a:p xmlns:a="http://schemas.openxmlformats.org/drawingml/2006/main">
            <a:pPr algn="just">
              <a:buSzPct val="100000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Maintain a prerequisite graph and update P(known) after every quiz attempt.</a:t>
            </a:r>
          </a:p>
          <a:p xmlns:a="http://schemas.openxmlformats.org/drawingml/2006/main">
            <a:pPr algn="just">
              <a:buSzPct val="100000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Expand retrieval through weak prerequisites and dependents, then return cited answers with visible retrieval reasons.</a:t>
            </a:r>
          </a:p>
          <a:p xmlns:a="http://schemas.openxmlformats.org/drawingml/2006/main">
            <a:pPr algn="just">
              <a:buSzPct val="100000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4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Success Criteria</a:t>
            </a:r>
          </a:p>
          <a:p xmlns:a="http://schemas.openxmlformats.org/drawingml/2006/main">
            <a:pPr algn="just">
              <a:buSzPct val="100000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Reproducible ingestion without duplicate captures.</a:t>
            </a:r>
          </a:p>
          <a:p xmlns:a="http://schemas.openxmlformats.org/drawingml/2006/main">
            <a:pPr algn="just">
              <a:buSzPct val="100000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Personalized gap detection and study recommendations.</a:t>
            </a:r>
          </a:p>
          <a:p xmlns:a="http://schemas.openxmlformats.org/drawingml/2006/main">
            <a:pPr algn="just">
              <a:buSzPct val="100000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Every generated answer exposes its citations, graph path, and evidence-selection logic.</a:t>
            </a:r>
          </a:p>
          <a:p xmlns:a="http://schemas.openxmlformats.org/drawingml/2006/main">
            <a:pPr algn="just">
              <a:buSzPct val="100000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60F2E42-FD7E-44B2-B465-0E3B936A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E61CA99-E711-4D42-8A2A-35342B62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85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5EF32E1-510D-49C8-8A63-65A6E7DD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Conclave - 2026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71F671B-DCB4-4D4C-8CE2-99F7ED93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446520"/>
            <a:ext cx="548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604803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F73F33-2519-4C3C-85A2-F8FB04D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" y="0"/>
            <a:ext cx="110916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PROPOSED ARCHITECTURE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942A8F0-62DD-46F0-81FD-03983CAE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" y="5420505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 algn="just">
              <a:lnSpc>
                <a:spcPct val="120000"/>
              </a:lnSpc>
              <a:buSzPct val="100000"/>
              <a:buChar char="•"/>
            </a:pPr>
            <a:r>
              <a:rPr>
                <a:solidFill>
                  <a:srgbClr val="000000"/>
                </a:solidFill>
                <a:latin typeface="Arial"/>
                <a:ea typeface="Arial"/>
                <a:cs typeface="Arial"/>
              </a:rPr>
              <a:t>Quiz attempts update P(known). The resulting mastery state changes both retrieved evidence and the learner’s next recommended action.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23A807E-5F79-452E-8ED3-E34EACEE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1EC890-9D63-4806-B903-5DC16E3B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89EA8E9-FFFC-4571-A10C-BB0E60B4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85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C9D8205-96A9-48DB-A733-5B3CAAE5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Conclave - 2026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1CFE9D8-4F18-4B3C-B2AB-DEF6A0A2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446520"/>
            <a:ext cx="548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300"/>
          </a:p>
        </p:txBody>
      </p:sp>
      <p:pic>
        <p:nvPicPr>
          <p:cNvPr id="18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8e749003a4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1" y="669800"/>
            <a:ext cx="10986515" cy="4649177"/>
          </a:xfrm>
          <a:prstGeom xmlns:a="http://schemas.openxmlformats.org/drawingml/2006/main" prst="rect">
            <a:avLst/>
          </a:prstGeom>
        </p:spPr>
      </p:pic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8e749003a4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1" y="614535"/>
            <a:ext cx="10986515" cy="46491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43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AD6CB92-D130-40BF-A333-E046BBBD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8B7E98-00FD-4A17-BD37-567487EF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7442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buSzPct val="100000"/>
              <a:buNone/>
            </a:pPr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Sources</a:t>
            </a:r>
          </a:p>
          <a:p xmlns:a="http://schemas.openxmlformats.org/drawingml/2006/main">
            <a:pPr algn="just">
              <a:buSzPct val="100000"/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Student notes and documents: TXT, Markdown, and PDF.</a:t>
            </a:r>
          </a:p>
          <a:p xmlns:a="http://schemas.openxmlformats.org/drawingml/2006/main">
            <a:pPr algn="just">
              <a:buSzPct val="100000"/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Attention-qualified browser events: URL, page title, visible text, dwell time, capture timestamp, and metadata.</a:t>
            </a:r>
          </a:p>
          <a:p xmlns:a="http://schemas.openxmlformats.org/drawingml/2006/main">
            <a:pPr algn="just">
              <a:buSzPct val="100000"/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Deterministic demonstration dataset: 3 evidence sources, 8 computer-science concepts, and 8 prerequisite relationships.</a:t>
            </a:r>
          </a:p>
          <a:p xmlns:a="http://schemas.openxmlformats.org/drawingml/2006/main">
            <a:pPr algn="just">
              <a:buSzPct val="100000"/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Split</a:t>
            </a:r>
          </a:p>
          <a:p xmlns:a="http://schemas.openxmlformats.org/drawingml/2006/main">
            <a:pPr algn="just">
              <a:buSzPct val="100000"/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No train/validation/test split is required because Axiom Trace uses pretrained transformer models without fine-tuning.</a:t>
            </a:r>
          </a:p>
          <a:p xmlns:a="http://schemas.openxmlformats.org/drawingml/2006/main">
            <a:pPr algn="just">
              <a:buSzPct val="100000"/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Functional behavior is evaluated through deterministic integration tests and a repeatable seeded scenario.</a:t>
            </a:r>
          </a:p>
          <a:p xmlns:a="http://schemas.openxmlformats.org/drawingml/2006/main">
            <a:pPr algn="just">
              <a:buSzPct val="100000"/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Preprocessing</a:t>
            </a:r>
          </a:p>
          <a:p xmlns:a="http://schemas.openxmlformats.org/drawingml/2006/main">
            <a:pPr algn="just">
              <a:buSzPct val="100000"/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Visible-text extraction, validation, sanitization, size limits, and idempotent event handling.</a:t>
            </a:r>
          </a:p>
          <a:p xmlns:a="http://schemas.openxmlformats.org/drawingml/2006/main">
            <a:pPr algn="just">
              <a:buSzPct val="100000"/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just">
              <a:buSzPct val="100000"/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Canonical item creation, text chunking, 384-dimensional normalized embeddings, and concept-to-source binding.</a:t>
            </a:r>
          </a:p>
          <a:p xmlns:a="http://schemas.openxmlformats.org/drawingml/2006/main">
            <a:pPr algn="just">
              <a:buSzPct val="100000"/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E595A58-37D2-4634-BEBF-AAF95812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2B51DC-5A92-4289-A15F-6CC5E31F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A6AAD4E-2000-485C-96EF-1931A75F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85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7CA87FE-FEA0-4010-BF39-1B512E06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Conclave -2026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8CD2A62-56FA-4B10-88A0-58D6C2F0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446520"/>
            <a:ext cx="548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8832353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9BC0CF1-BF69-4D8A-83AC-FBF830C9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MODULES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7934B0-DD53-434F-896D-7BC19324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" y="106680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buSzPct val="100000"/>
              <a:buNone/>
            </a:pPr>
            <a:r>
              <a:rPr sz="1600" b="1"/>
              <a:t>1. Learning Evidence Adapter  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Captures focused browser reading and accepts student notes and documents.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 b="1"/>
              <a:t>2. Canonical Ingestion Layer  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Validates, deduplicates, chunks, embeds, and stores all evidence through one pipeline.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 b="1"/>
              <a:t>3. Student Knowledge Model  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Maintains concepts, prerequisite edges, quiz history, P(known), confidence, and forgetting risk.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 b="1"/>
              <a:t>4. Graph-Guided Retriever  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Expands the active concept into weak prerequisites and dependents before merging semantic candidates.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 b="1"/>
              <a:t>5. Transformer </a:t>
            </a:r>
            <a:r>
              <a:rPr sz="1600" b="1"/>
              <a:t>Reranker</a:t>
            </a:r>
            <a:r>
              <a:rPr sz="1600" b="1"/>
              <a:t> and Generator  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Reranks</a:t>
            </a:r>
            <a:r>
              <a:rPr sz="1600"/>
              <a:t> the bounded evidence pool and produces a grounded answer using the selected context.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 b="1"/>
              <a:t>6. Adaptive Learning Interface  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Displays knowledge gaps, concept maps, study sessions, evidence, citations, and “Why this answer?”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 b="1"/>
              <a:t>Module Connection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Learning evidence updates the knowledge base; quiz attempts update mastery; mastery guides retrieval and the next recommended learning action.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92968B-9DED-494C-9DFF-69095CA2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3A956F0-9CE8-4D4F-8C42-17661B4D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F467C0C-1A89-4811-88E9-5DFABB0E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85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B8D44D1-FF48-4E17-9275-865E16F3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Conclave - 2026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7CF0CF-35E1-41F5-B7AF-249CFE17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446520"/>
            <a:ext cx="548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8398294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694BF8-CB23-495C-ADF1-21961030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IMPLEMENTATION SETUP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D7341E-9624-41D6-90C3-1837E77D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" y="82296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 b="1" u="sng"/>
              <a:t>Programming Stack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• Backend: Python 3.12, </a:t>
            </a:r>
            <a:r>
              <a:rPr sz="1600"/>
              <a:t>FastAPI</a:t>
            </a:r>
            <a:r>
              <a:rPr sz="1600"/>
              <a:t>, SQLite, </a:t>
            </a:r>
            <a:r>
              <a:rPr sz="1600"/>
              <a:t>LanceDB</a:t>
            </a:r>
            <a:r>
              <a:rPr sz="1600"/>
              <a:t>, Sentence Transformers, and an OpenAI-compatible LM Studio API.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• Frontend: Next.js 16, React 19, TypeScript, Tailwind CSS, Mermaid, and </a:t>
            </a:r>
            <a:r>
              <a:rPr sz="1600"/>
              <a:t>KaTeX</a:t>
            </a:r>
            <a:r>
              <a:rPr sz="1600"/>
              <a:t>.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• Capture Integration: Manifest V3 browser extension with a persistent retry queue and idempotent acknowledgements.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 b="1" u="sng"/>
              <a:t>Models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• Embeddings: sentence-transformers/all-MiniLM-L6-v2.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• Reranking: Qwen3-Reranker-0.6B through LM Studio.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• Answer generation: Qwen3-4B through a local OpenAI-compatible endpoint.</a:t>
            </a:r>
          </a:p>
          <a:p xmlns:a="http://schemas.openxmlformats.org/drawingml/2006/main">
            <a:pPr algn="just">
              <a:buSzPct val="100000"/>
              <a:buNone/>
            </a:pPr>
            <a:endParaRPr sz="1600" b="1"/>
          </a:p>
          <a:p xmlns:a="http://schemas.openxmlformats.org/drawingml/2006/main">
            <a:pPr algn="just">
              <a:buSzPct val="100000"/>
              <a:buNone/>
            </a:pPr>
            <a:r>
              <a:rPr sz="1600" b="1" u="sng"/>
              <a:t>Environment and Tools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• Designed to run locally on a Windows laptop; GPU acceleration is optional.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• No required cloud service or external database.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  <a:p xmlns:a="http://schemas.openxmlformats.org/drawingml/2006/main">
            <a:pPr algn="just">
              <a:buSzPct val="100000"/>
              <a:buNone/>
            </a:pPr>
            <a:r>
              <a:rPr sz="1600"/>
              <a:t>• Development tools: </a:t>
            </a:r>
            <a:r>
              <a:rPr sz="1600"/>
              <a:t>uv</a:t>
            </a:r>
            <a:r>
              <a:rPr sz="1600"/>
              <a:t>, </a:t>
            </a:r>
            <a:r>
              <a:rPr sz="1600"/>
              <a:t>pnpm</a:t>
            </a:r>
            <a:r>
              <a:rPr sz="1600"/>
              <a:t>, Git, GitHub, </a:t>
            </a:r>
            <a:r>
              <a:rPr sz="1600"/>
              <a:t>pytest</a:t>
            </a:r>
            <a:r>
              <a:rPr sz="1600"/>
              <a:t>, </a:t>
            </a:r>
            <a:r>
              <a:rPr sz="1600"/>
              <a:t>ESLint</a:t>
            </a:r>
            <a:r>
              <a:rPr sz="1600"/>
              <a:t>, and TypeScript.</a:t>
            </a:r>
          </a:p>
          <a:p xmlns:a="http://schemas.openxmlformats.org/drawingml/2006/main">
            <a:pPr algn="just">
              <a:buSzPct val="100000"/>
              <a:buNone/>
            </a:pP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3D3BBB-8624-4E0A-BC21-E3469C98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4D3D7A-44D4-4812-876E-E361E42A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41F1B70-B961-4F18-902E-608D03BA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85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AF3D9AF-4B09-4571-B0A7-4A042176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Conclave - 2026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D11890-BF2F-4B59-A78A-09EF7AE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446520"/>
            <a:ext cx="548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748924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67EF6A-8448-43A8-94D8-7F0231CD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HYPERPARAMETERS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2B8B41-B0B6-45AE-8C2E-D0D016CC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" y="107442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buSzPct val="100000"/>
              <a:buNone/>
            </a:pPr>
            <a:r>
              <a:rPr sz="1400" b="1" u="sng"/>
              <a:t>Graph-Guided Retrieval</a:t>
            </a:r>
          </a:p>
          <a:p xmlns:a="http://schemas.openxmlformats.org/drawingml/2006/main">
            <a:pPr algn="just">
              <a:buSzPct val="100000"/>
              <a:buNone/>
            </a:pPr>
            <a:endParaRPr sz="1400"/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Maximum candidate pool: 24 chunks.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Final context: Top 8 reranked chunks.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Graph expansion: up to 4 weakest prerequisites and 4 weakest dependents.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Evidence per graph node: maximum 3 chunks.</a:t>
            </a:r>
          </a:p>
          <a:p xmlns:a="http://schemas.openxmlformats.org/drawingml/2006/main">
            <a:pPr algn="just">
              <a:buSzPct val="100000"/>
              <a:buNone/>
            </a:pPr>
            <a:endParaRPr sz="1400"/>
          </a:p>
          <a:p xmlns:a="http://schemas.openxmlformats.org/drawingml/2006/main">
            <a:pPr algn="just">
              <a:buSzPct val="100000"/>
              <a:buNone/>
            </a:pPr>
            <a:r>
              <a:rPr sz="1400" b="1" u="sng"/>
              <a:t>Transformer Configuration</a:t>
            </a:r>
          </a:p>
          <a:p xmlns:a="http://schemas.openxmlformats.org/drawingml/2006/main">
            <a:pPr algn="just">
              <a:buSzPct val="100000"/>
              <a:buNone/>
            </a:pPr>
            <a:endParaRPr sz="1400"/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Embedding dimension: 384 with normalized embeddings.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</a:t>
            </a:r>
            <a:r>
              <a:rPr sz="1400"/>
              <a:t>Reranker</a:t>
            </a:r>
            <a:r>
              <a:rPr sz="1400"/>
              <a:t> temperature: 0.0.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</a:t>
            </a:r>
            <a:r>
              <a:rPr sz="1400"/>
              <a:t>Reranker</a:t>
            </a:r>
            <a:r>
              <a:rPr sz="1400"/>
              <a:t> output: maximum 4 tokens with 4 parallel requests.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Maximum </a:t>
            </a:r>
            <a:r>
              <a:rPr sz="1400"/>
              <a:t>reranker</a:t>
            </a:r>
            <a:r>
              <a:rPr sz="1400"/>
              <a:t> document length: 6,000 characters.</a:t>
            </a:r>
          </a:p>
          <a:p xmlns:a="http://schemas.openxmlformats.org/drawingml/2006/main">
            <a:pPr algn="just">
              <a:buSzPct val="100000"/>
              <a:buNone/>
            </a:pPr>
            <a:endParaRPr sz="1400"/>
          </a:p>
          <a:p xmlns:a="http://schemas.openxmlformats.org/drawingml/2006/main">
            <a:pPr algn="just">
              <a:buSzPct val="100000"/>
              <a:buNone/>
            </a:pPr>
            <a:r>
              <a:rPr sz="1400" b="1" u="sng"/>
              <a:t>Bayesian Knowledge Tracing</a:t>
            </a:r>
          </a:p>
          <a:p xmlns:a="http://schemas.openxmlformats.org/drawingml/2006/main">
            <a:pPr algn="just">
              <a:buSzPct val="100000"/>
              <a:buNone/>
            </a:pPr>
            <a:endParaRPr sz="1400"/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Initial knowledge probability: 0.25.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Learning probability: 0.15.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Slip probability: 0.10.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Guess probability: 0.25.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Knowledge-gap threshold: 0.60.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Mastery threshold: 0.85.</a:t>
            </a:r>
          </a:p>
          <a:p xmlns:a="http://schemas.openxmlformats.org/drawingml/2006/main">
            <a:pPr algn="just">
              <a:buSzPct val="100000"/>
              <a:buNone/>
            </a:pPr>
            <a:r>
              <a:rPr sz="1400"/>
              <a:t>• Initial memory half-life: 1 day; correct review ×2, incorrect review ×0.4.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167214D-A23F-44AF-B67D-57855237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E31E7F6-0602-43D0-BAA9-44BE90DD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A2FECC0-9E91-43B2-9BFF-AD3DD3A7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85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D4083E8-FEC7-4691-B196-90D03B33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Conclave - 2026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DA1CB75-6C72-4E70-912E-4E2E98FF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446520"/>
            <a:ext cx="548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308725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71CF30-6791-4462-80FF-033105DB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RESULTS &amp; ANALYSIS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E6A573-BC26-400B-90C4-E5643E0E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09750"/>
            <a:ext cx="10881360" cy="409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 algn="just">
              <a:lnSpc>
                <a:spcPct val="120000"/>
              </a:lnSpc>
              <a:buSzPct val="100000"/>
              <a:buChar char="•"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252 backend tests passed; frontend lint, type checks and production build pass.</a:t>
            </a:r>
            <a:endParaRPr sz="1800"/>
          </a:p>
          <a:p xmlns:a="http://schemas.openxmlformats.org/drawingml/2006/main">
            <a:pPr marL="342900" indent="-342900" algn="just">
              <a:lnSpc>
                <a:spcPct val="120000"/>
              </a:lnSpc>
              <a:buSzPct val="100000"/>
              <a:buChar char="•"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0 duplicate records in tested replay scenarios.</a:t>
            </a:r>
            <a:endParaRPr sz="1800"/>
          </a:p>
          <a:p xmlns:a="http://schemas.openxmlformats.org/drawingml/2006/main">
            <a:pPr marL="342900" indent="-342900" algn="just">
              <a:lnSpc>
                <a:spcPct val="120000"/>
              </a:lnSpc>
              <a:buSzPct val="100000"/>
              <a:buChar char="•"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Web and API health checks return HTTP 200.</a:t>
            </a:r>
            <a:endParaRPr sz="1800"/>
          </a:p>
          <a:p xmlns:a="http://schemas.openxmlformats.org/drawingml/2006/main">
            <a:pPr marL="342900" indent="-342900" algn="just">
              <a:lnSpc>
                <a:spcPct val="120000"/>
              </a:lnSpc>
              <a:buSzPct val="100000"/>
              <a:buChar char="•"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seeded demo reproduces 3 evidence sources, 8 concepts and 8 prerequisite edges.</a:t>
            </a:r>
            <a:endParaRPr sz="1800"/>
          </a:p>
          <a:p xmlns:a="http://schemas.openxmlformats.org/drawingml/2006/main">
            <a:pPr marL="342900" indent="-342900" algn="just">
              <a:lnSpc>
                <a:spcPct val="120000"/>
              </a:lnSpc>
              <a:buSzPct val="100000"/>
              <a:buChar char="•"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Mastery updates alter both retrieval context and next-study recommendations.</a:t>
            </a:r>
            <a:endParaRPr sz="1800"/>
          </a:p>
          <a:p xmlns:a="http://schemas.openxmlformats.org/drawingml/2006/main">
            <a:pPr marL="342900" indent="-342900" algn="just">
              <a:lnSpc>
                <a:spcPct val="120000"/>
              </a:lnSpc>
              <a:buSzPct val="100000"/>
              <a:buChar char="•"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evidence validates functional correctness; latency, retrieval quality and learning gains remain formal evaluation work.</a:t>
            </a:r>
            <a:endParaRPr sz="1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D621E14-AE50-4A11-8F99-70385906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A7EE08D-FA07-4FEF-84F6-693E97FF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SzPct val="100000"/>
              <a:buNone/>
            </a:pPr>
            <a:endParaRPr sz="1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7C4D62E-2929-4E96-B12C-2FCF152E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85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5A73AE1-F91C-4E21-879C-33D498F1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46520"/>
            <a:ext cx="121889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Conclave - 2026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70381B-46AA-4E14-AF35-29D67C89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446520"/>
            <a:ext cx="548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89682475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2026-08-16T09:36:25.5460000Z</dcterms:created>
  <dcterms:modified xsi:type="dcterms:W3CDTF">2026-08-16T09:36:25.5460000Z</dcterms:modified>
</coreProperties>
</file>