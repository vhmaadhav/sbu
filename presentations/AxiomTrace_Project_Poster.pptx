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3610c24c564911" /><Relationship Type="http://schemas.openxmlformats.org/officeDocument/2006/relationships/extended-properties" Target="/docProps/app.xml" Id="R1fd9b692f1c74e12" /><Relationship Type="http://schemas.openxmlformats.org/officeDocument/2006/relationships/officeDocument" Target="/ppt/presentation.xml" Id="Re80c214efdfd4f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d0cc911e3b4a8e"/>
  </p:sldMasterIdLst>
  <p:notesMasterIdLst>
    <p:notesMasterId xmlns:r="http://schemas.openxmlformats.org/officeDocument/2006/relationships" r:id="Re868e9a188cd476e"/>
  </p:notesMasterIdLst>
  <p:sldIdLst>
    <p:sldId xmlns:r="http://schemas.openxmlformats.org/officeDocument/2006/relationships" id="256" r:id="R51f5f289449e4900"/>
  </p:sldIdLst>
  <p:sldSz cx="7772400" cy="10058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c42b7fad9a46b7" /><Relationship Type="http://schemas.openxmlformats.org/officeDocument/2006/relationships/slideMaster" Target="/ppt/slideMasters/slideMaster1.xml" Id="R3ed0cc911e3b4a8e" /><Relationship Type="http://schemas.openxmlformats.org/officeDocument/2006/relationships/notesMaster" Target="/ppt/notesMasters/notesMaster1.xml" Id="Re868e9a188cd476e" /><Relationship Type="http://schemas.openxmlformats.org/officeDocument/2006/relationships/presProps" Target="/ppt/presProps.xml" Id="Raa9b859b655b4e68" /><Relationship Type="http://schemas.openxmlformats.org/officeDocument/2006/relationships/viewProps" Target="/ppt/viewProps.xml" Id="Rebc9e8b5cb774edc" /><Relationship Type="http://schemas.openxmlformats.org/officeDocument/2006/relationships/tableStyles" Target="/ppt/tableStyles.xml" Id="R30392b0a64f540d1" /><Relationship Type="http://schemas.openxmlformats.org/officeDocument/2006/relationships/slide" Target="/ppt/slides/slide1.xml" Id="R51f5f289449e49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f65b82e6474f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3997f3b20c4824" /><Relationship Type="http://schemas.openxmlformats.org/officeDocument/2006/relationships/notesMaster" Target="/ppt/notesMasters/notesMaster1.xml" Id="R5f7da4aa78184f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C:/Users/maadh/Desktop/AxiomTrace (local verification and seeded demo; accessed 2026-08-16)</a:t>
            </a:r>
            <a:endParaRPr/>
          </a:p>
          <a:p xmlns:a="http://schemas.openxmlformats.org/drawingml/2006/main">
            <a:r>
              <a:t>- C:/Users/maadh/Desktop/AxiomTrace/docs/assets/axiom-trace-system-architecture.png (architecture visual; accessed 2026-08-16)</a:t>
            </a:r>
            <a:endParaRPr/>
          </a:p>
          <a:p xmlns:a="http://schemas.openxmlformats.org/drawingml/2006/main">
            <a:r>
              <a:t>- A. T. Corbett and J. R. Anderson, Knowledge Tracing, User Modeling and User-Adapted Interaction, 1995</a:t>
            </a:r>
            <a:endParaRPr/>
          </a:p>
          <a:p xmlns:a="http://schemas.openxmlformats.org/drawingml/2006/main">
            <a:r>
              <a:t>- P. Lewis et al., Retrieval-Augmented Generation for Knowledge-Intensive NLP Tasks, NeurIPS, 2020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439fb129b94141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f90d872aa04a1d" /><Relationship Type="http://schemas.openxmlformats.org/officeDocument/2006/relationships/slideLayout" Target="/ppt/slideLayouts/slideLayout1.xml" Id="R7abf8592bb0f44a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bf8592bb0f44a4"/>
  </p:sldLayoutIdLst>
  <p:hf sldNum="0" hd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83fa6c771c47f4" /><Relationship Type="http://schemas.openxmlformats.org/officeDocument/2006/relationships/image" Target="/ppt/media/image.png" Id="Rdd71384658a541fd" /><Relationship Type="http://schemas.openxmlformats.org/officeDocument/2006/relationships/image" Target="/ppt/media/image2.png" Id="R489ab0826e984e81" /><Relationship Type="http://schemas.openxmlformats.org/officeDocument/2006/relationships/notesSlide" Target="/ppt/notesSlides/notesSlide1.xml" Id="R33128c030a0d4f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A5FC643-69EE-4160-B2EC-A10CCEE4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164592"/>
            <a:ext cx="7443216" cy="96296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FBFBF"/>
            </a:solidFill>
            <a:prstDash val="solid"/>
          </a:ln>
        </p:spPr>
      </p:sp>
      <p:pic>
        <p:nvPicPr>
          <p:cNvPr id="9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71384658a541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1480" y="384048"/>
            <a:ext cx="868680" cy="868680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8A67C195-D19F-4808-97F3-66BA6AE5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84048"/>
            <a:ext cx="5897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1F3864"/>
                </a:solidFill>
                <a:latin typeface="Georgia"/>
                <a:ea typeface="Georgia"/>
                <a:cs typeface="Georgia"/>
              </a:rPr>
              <a:t>AXIOM TRACE</a:t>
            </a:r>
            <a:endParaRPr sz="26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333BA80-638B-4328-92E4-DB418D96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5897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Highest in the Room   |   Team Members: Maadhav V H, Sachin A S</a:t>
            </a:r>
            <a:endParaRPr sz="1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4FB18AE9-113C-4816-A8F2-366DE8AE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353312"/>
            <a:ext cx="6949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3864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D94A66A4-8606-4161-9893-6A38AA8F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554480"/>
            <a:ext cx="694944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3D3FA22-821C-4D44-A4E5-0BDD7687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554480"/>
            <a:ext cx="672998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ABSTRACT</a:t>
            </a:r>
            <a:endParaRPr sz="1400"/>
          </a:p>
        </p:txBody>
      </p:sp>
      <p:sp>
        <p:nvSpPr>
          <p:cNvPr id="90" name="Shape Abstract Box">
            <a:extLst xmlns:a="http://schemas.openxmlformats.org/drawingml/2006/main">
              <a:ext uri="{FF2B5EF4-FFF2-40B4-BE49-F238E27FC236}">
                <a16:creationId xmlns:a16="http://schemas.microsoft.com/office/drawing/2014/main" id="{A3D2D480-F2D0-4A5F-B939-FCC042FA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47088"/>
            <a:ext cx="6949440" cy="6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BDBC015-461B-4E76-A477-84115562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85950"/>
            <a:ext cx="6949440" cy="542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sz="1050" i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Axiom Trace is a local-first personalized learning system that combines a prerequisite knowledge graph, Bayesian Knowledge Tracing and retrieval-augmented generation. It converts notes, PDFs, browsing evidence and quiz attempts into a continuously updated student model, then returns cited answers, visible retrieval traces and next-study recommendations without requiring a cloud service.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BBB22CB-CFBC-453F-A861-8DE3811A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670048"/>
            <a:ext cx="3346704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6E2C9EE-6AEE-4868-86D6-26A4B0D2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2670048"/>
            <a:ext cx="312724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OBJECTIVE</a:t>
            </a:r>
            <a:endParaRPr sz="14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C6C034F5-FCA9-472C-83E9-E31FE4D1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216" y="2670048"/>
            <a:ext cx="3346704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969B140-7033-4B56-9365-D8718AF3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3944" y="2670048"/>
            <a:ext cx="312724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PROPOSED APPROACH</a:t>
            </a:r>
            <a:endParaRPr sz="14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360D97B7-3F1B-49C8-A152-CF60D391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962656"/>
            <a:ext cx="3346704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C73629AA-1904-4A09-86B2-17EDA46C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216" y="2962656"/>
            <a:ext cx="3346704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E8E0164F-C84A-4D46-9B4C-CB0A2D45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3072384"/>
            <a:ext cx="3017520" cy="1289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8" indent="-10">
              <a:buChar char="▸"/>
            </a:pPr>
            <a:r>
              <a:rPr sz="1100" i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Build a private learning memory from notes, PDFs and browsing.</a:t>
            </a:r>
          </a:p>
          <a:p xmlns:a="http://schemas.openxmlformats.org/drawingml/2006/main">
            <a:pPr marL="18" indent="-10">
              <a:buChar char="▸"/>
            </a:pPr>
            <a:r>
              <a:rPr sz="1100" i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Track mastery and prerequisite gaps from quiz evidence.</a:t>
            </a:r>
          </a:p>
          <a:p xmlns:a="http://schemas.openxmlformats.org/drawingml/2006/main">
            <a:pPr marL="18" indent="-10">
              <a:buChar char="▸"/>
            </a:pPr>
            <a:r>
              <a:rPr sz="1100" i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Return cited answers and next-study actions.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37CF9FC-1B50-4167-9528-ACD3D587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808" y="3072384"/>
            <a:ext cx="3017520" cy="1289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8" indent="-10">
              <a:buChar char="▸"/>
            </a:pPr>
            <a:r>
              <a:rPr sz="1100" i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Deduplicate and index evidence in SQLite + LanceDB.</a:t>
            </a:r>
          </a:p>
          <a:p xmlns:a="http://schemas.openxmlformats.org/drawingml/2006/main">
            <a:pPr marL="18" indent="-10">
              <a:buChar char="▸"/>
            </a:pPr>
            <a:r>
              <a:rPr sz="1100" i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Update a prerequisite graph and Bayesian P(known).</a:t>
            </a:r>
          </a:p>
          <a:p xmlns:a="http://schemas.openxmlformats.org/drawingml/2006/main">
            <a:pPr marL="18" indent="-10">
              <a:buChar char="▸"/>
            </a:pPr>
            <a:r>
              <a:rPr sz="1100" i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Expand graph neighbors, rerank evidence and generate cited guidance.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89E70B50-07F8-4790-8F13-1F7357C9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974336"/>
            <a:ext cx="3346704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1D03C4C4-5680-4B79-820A-B76AF5FB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4974336"/>
            <a:ext cx="312724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METHODOLOGY</a:t>
            </a:r>
            <a:endParaRPr sz="14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390A1A3D-02C2-4855-824C-6B91CC25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216" y="4974336"/>
            <a:ext cx="3346704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B53778E7-D5F4-4651-9A03-211BCA0A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3944" y="4974336"/>
            <a:ext cx="312724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RESULT</a:t>
            </a:r>
            <a:endParaRPr sz="140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BDA32B5F-BA06-4323-84C3-CAAAD3CE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216" y="5266944"/>
            <a:ext cx="3346704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91" name="Shape Methodology Box">
            <a:extLst xmlns:a="http://schemas.openxmlformats.org/drawingml/2006/main">
              <a:ext uri="{FF2B5EF4-FFF2-40B4-BE49-F238E27FC236}">
                <a16:creationId xmlns:a16="http://schemas.microsoft.com/office/drawing/2014/main" id="{62B37CDE-1D31-4966-9F33-99954D58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5266944"/>
            <a:ext cx="3346704" cy="13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9B83D11E-EB0E-4BFB-BD04-BA304C61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5376672"/>
            <a:ext cx="3346704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i="1">
                <a:solidFill>
                  <a:srgbClr val="9B9B9B"/>
                </a:solidFill>
                <a:latin typeface="Calibri"/>
                <a:ea typeface="Calibri"/>
                <a:cs typeface="Calibri"/>
              </a:rPr>
              <a:t/>
            </a:r>
            <a:endParaRPr sz="12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5AB8270-0E27-4AAE-A27D-04A7596A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808" y="5314950"/>
            <a:ext cx="301752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9D9D9"/>
            </a:solidFill>
          </a:ln>
        </p:spPr>
        <p:txBody>
          <a:bodyPr xmlns:a="http://schemas.openxmlformats.org/drawingml/2006/main" wrap="square" lIns="50800" tIns="127000" rIns="127000" bIns="50800" anchor="ctr"/>
          <a:lstStyle xmlns:a="http://schemas.openxmlformats.org/drawingml/2006/main"/>
          <a:p xmlns:a="http://schemas.openxmlformats.org/drawingml/2006/main">
            <a:r>
              <a:rPr sz="1050" i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252 backend tests passed</a:t>
            </a:r>
          </a:p>
          <a:p xmlns:a="http://schemas.openxmlformats.org/drawingml/2006/main">
            <a:r>
              <a:rPr sz="1050" i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Frontend checks + build passed</a:t>
            </a:r>
          </a:p>
          <a:p xmlns:a="http://schemas.openxmlformats.org/drawingml/2006/main">
            <a:r>
              <a:rPr sz="1050" i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0 replay duplicates</a:t>
            </a:r>
          </a:p>
          <a:p xmlns:a="http://schemas.openxmlformats.org/drawingml/2006/main">
            <a:r>
              <a:rPr sz="1050" i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Web/API health: HTTP 200</a:t>
            </a:r>
          </a:p>
          <a:p xmlns:a="http://schemas.openxmlformats.org/drawingml/2006/main">
            <a:r>
              <a:rPr sz="1050" i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Demo: 3 sources · 8 concepts · 8 edges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951B4949-EB47-421E-927D-E93C9C7C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775704"/>
            <a:ext cx="3346704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94854C09-BCE4-4C23-B31A-44E17122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6775704"/>
            <a:ext cx="312724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CONCLUSION</a:t>
            </a:r>
            <a:endParaRPr sz="1400"/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3906C5DE-645F-45DA-A416-40031E77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216" y="6775704"/>
            <a:ext cx="3346704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A4CADD53-4823-4845-A85C-79252DAF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3944" y="6775704"/>
            <a:ext cx="312724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REFERENCES (OPTIONAL)</a:t>
            </a:r>
            <a:endParaRPr sz="140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76A738D-3808-47BD-8EAA-2E333373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7068312"/>
            <a:ext cx="334670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8AEE4E20-871D-49A4-84C1-4DC52429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216" y="7068312"/>
            <a:ext cx="334670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16A7F10A-9F3E-4B02-81A5-A53D7F4C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7178040"/>
            <a:ext cx="3017520" cy="10149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8" indent="-10">
              <a:buChar char="▸"/>
            </a:pPr>
            <a:r>
              <a:rPr sz="1050" i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Closes the loop between what a student reads, knows and should study next.</a:t>
            </a:r>
          </a:p>
          <a:p xmlns:a="http://schemas.openxmlformats.org/drawingml/2006/main">
            <a:pPr marL="18" indent="-10">
              <a:buChar char="▸"/>
            </a:pPr>
            <a:r>
              <a:rPr sz="1050" i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Functional correctness is verified; latency, retrieval quality and learning gains remain formal evaluation work.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72DB3866-4D96-4C44-9BFD-09E8CF41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808" y="7178040"/>
            <a:ext cx="3017520" cy="10149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sz="950" i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[1] A. T. Corbett and J. R. Anderson, “Knowledge Tracing,” UMUAI, 1995.</a:t>
            </a:r>
          </a:p>
          <a:p xmlns:a="http://schemas.openxmlformats.org/drawingml/2006/main">
            <a:r>
              <a:rPr sz="950" i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[2] P. Lewis et al., “Retrieval-Augmented Generation,” NeurIPS, 2020.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E8E6C3DF-12FE-40DF-96D0-FE5338CC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5716" y="9794240"/>
            <a:ext cx="2481852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/>
              <a:t>Int AI Conclave-2026</a:t>
            </a:r>
          </a:p>
        </p:txBody>
      </p:sp>
      <p:pic>
        <p:nvPicPr>
          <p:cNvPr id="128" name="Axiom Trace Architectu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9ab0826e984e81"/>
          <a:stretch xmlns:a="http://schemas.openxmlformats.org/drawingml/2006/main"/>
        </p:blipFill>
        <p:spPr>
          <a:xfrm xmlns:a="http://schemas.openxmlformats.org/drawingml/2006/main">
            <a:off x="1000436" y="5305425"/>
            <a:ext cx="2166315" cy="1219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02271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2026-08-16T09:47:48.9250000Z</dcterms:created>
  <dcterms:modified xsi:type="dcterms:W3CDTF">2026-08-16T09:47:48.9250000Z</dcterms:modified>
</coreProperties>
</file>