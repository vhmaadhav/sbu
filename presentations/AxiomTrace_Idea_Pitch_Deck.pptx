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b65dc68d214179" /><Relationship Type="http://schemas.openxmlformats.org/officeDocument/2006/relationships/extended-properties" Target="/docProps/app.xml" Id="Re45dafea64274aee" /><Relationship Type="http://schemas.openxmlformats.org/officeDocument/2006/relationships/officeDocument" Target="/ppt/presentation.xml" Id="R2f23ebccc17a46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e953dd9456456e"/>
  </p:sldMasterIdLst>
  <p:notesMasterIdLst>
    <p:notesMasterId xmlns:r="http://schemas.openxmlformats.org/officeDocument/2006/relationships" r:id="R769a7ed46cdd4c86"/>
  </p:notesMasterIdLst>
  <p:sldIdLst>
    <p:sldId xmlns:r="http://schemas.openxmlformats.org/officeDocument/2006/relationships" id="256" r:id="R369466ea2ead4b72"/>
    <p:sldId xmlns:r="http://schemas.openxmlformats.org/officeDocument/2006/relationships" id="257" r:id="R11c25394604f4747"/>
    <p:sldId xmlns:r="http://schemas.openxmlformats.org/officeDocument/2006/relationships" id="258" r:id="Rf7d07752294343bc"/>
    <p:sldId xmlns:r="http://schemas.openxmlformats.org/officeDocument/2006/relationships" id="259" r:id="Rc30ca05945254e24"/>
    <p:sldId xmlns:r="http://schemas.openxmlformats.org/officeDocument/2006/relationships" id="260" r:id="R23c8ba37943a450b"/>
    <p:sldId xmlns:r="http://schemas.openxmlformats.org/officeDocument/2006/relationships" id="261" r:id="R5132a25fd70b4c20"/>
    <p:sldId xmlns:r="http://schemas.openxmlformats.org/officeDocument/2006/relationships" id="262" r:id="R39fb445ec4144afb"/>
    <p:sldId xmlns:r="http://schemas.openxmlformats.org/officeDocument/2006/relationships" id="263" r:id="R6782a1e611f14a02"/>
    <p:sldId xmlns:r="http://schemas.openxmlformats.org/officeDocument/2006/relationships" id="264" r:id="Re69a181fb48d4b4b"/>
    <p:sldId xmlns:r="http://schemas.openxmlformats.org/officeDocument/2006/relationships" id="265" r:id="R6852920e729c48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dfb4d73e1b4c15" /><Relationship Type="http://schemas.openxmlformats.org/officeDocument/2006/relationships/slideMaster" Target="/ppt/slideMasters/slideMaster1.xml" Id="R05e953dd9456456e" /><Relationship Type="http://schemas.openxmlformats.org/officeDocument/2006/relationships/notesMaster" Target="/ppt/notesMasters/notesMaster1.xml" Id="R769a7ed46cdd4c86" /><Relationship Type="http://schemas.openxmlformats.org/officeDocument/2006/relationships/presProps" Target="/ppt/presProps.xml" Id="R4affde78e2d446e9" /><Relationship Type="http://schemas.openxmlformats.org/officeDocument/2006/relationships/viewProps" Target="/ppt/viewProps.xml" Id="Ra75cc16dac324b71" /><Relationship Type="http://schemas.openxmlformats.org/officeDocument/2006/relationships/tableStyles" Target="/ppt/tableStyles.xml" Id="R3e6bdf4ab0114c59" /><Relationship Type="http://schemas.openxmlformats.org/officeDocument/2006/relationships/slide" Target="/ppt/slides/slide1.xml" Id="R369466ea2ead4b72" /><Relationship Type="http://schemas.openxmlformats.org/officeDocument/2006/relationships/slide" Target="/ppt/slides/slide2.xml" Id="R11c25394604f4747" /><Relationship Type="http://schemas.openxmlformats.org/officeDocument/2006/relationships/slide" Target="/ppt/slides/slide3.xml" Id="Rf7d07752294343bc" /><Relationship Type="http://schemas.openxmlformats.org/officeDocument/2006/relationships/slide" Target="/ppt/slides/slide4.xml" Id="Rc30ca05945254e24" /><Relationship Type="http://schemas.openxmlformats.org/officeDocument/2006/relationships/slide" Target="/ppt/slides/slide5.xml" Id="R23c8ba37943a450b" /><Relationship Type="http://schemas.openxmlformats.org/officeDocument/2006/relationships/slide" Target="/ppt/slides/slide6.xml" Id="R5132a25fd70b4c20" /><Relationship Type="http://schemas.openxmlformats.org/officeDocument/2006/relationships/slide" Target="/ppt/slides/slide7.xml" Id="R39fb445ec4144afb" /><Relationship Type="http://schemas.openxmlformats.org/officeDocument/2006/relationships/slide" Target="/ppt/slides/slide8.xml" Id="R6782a1e611f14a02" /><Relationship Type="http://schemas.openxmlformats.org/officeDocument/2006/relationships/slide" Target="/ppt/slides/slide9.xml" Id="Re69a181fb48d4b4b" /><Relationship Type="http://schemas.openxmlformats.org/officeDocument/2006/relationships/slide" Target="/ppt/slides/slide10.xml" Id="R6852920e729c48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4dd603718749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7eb33cb1dd40d3" /><Relationship Type="http://schemas.openxmlformats.org/officeDocument/2006/relationships/notesMaster" Target="/ppt/notesMasters/notesMaster1.xml" Id="R838dca410b0848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726a6c7dcd40f7" /><Relationship Type="http://schemas.openxmlformats.org/officeDocument/2006/relationships/notesMaster" Target="/ppt/notesMasters/notesMaster1.xml" Id="R869e45399d2d40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612aae0dae48c6" /><Relationship Type="http://schemas.openxmlformats.org/officeDocument/2006/relationships/notesMaster" Target="/ppt/notesMasters/notesMaster1.xml" Id="Rd0bcd0319f264e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a7b1ece13b4ca9" /><Relationship Type="http://schemas.openxmlformats.org/officeDocument/2006/relationships/notesMaster" Target="/ppt/notesMasters/notesMaster1.xml" Id="Ref46da43ee7847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6d266a37ee470b" /><Relationship Type="http://schemas.openxmlformats.org/officeDocument/2006/relationships/notesMaster" Target="/ppt/notesMasters/notesMaster1.xml" Id="Rc5e81a4b65de4e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fe2bd98652458f" /><Relationship Type="http://schemas.openxmlformats.org/officeDocument/2006/relationships/notesMaster" Target="/ppt/notesMasters/notesMaster1.xml" Id="R9576636662e644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21e02066fa45be" /><Relationship Type="http://schemas.openxmlformats.org/officeDocument/2006/relationships/notesMaster" Target="/ppt/notesMasters/notesMaster1.xml" Id="Rc354bc97863645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f12d0f934b474b" /><Relationship Type="http://schemas.openxmlformats.org/officeDocument/2006/relationships/notesMaster" Target="/ppt/notesMasters/notesMaster1.xml" Id="R11c26ff7066943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d90e4d29ba4b4a" /><Relationship Type="http://schemas.openxmlformats.org/officeDocument/2006/relationships/notesMaster" Target="/ppt/notesMasters/notesMaster1.xml" Id="R8f39ab4ca79440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df63dade7f42a7" /><Relationship Type="http://schemas.openxmlformats.org/officeDocument/2006/relationships/notesMaster" Target="/ppt/notesMasters/notesMaster1.xml" Id="R3597363eac3f42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https://www.pib.gov.in/PressReleasePage.aspx?PRID=2219936&amp;lang=1&amp;reg=1 (Ministry of Education AISHE 2022–23 provisional enrolment; accessed 2026-08-16)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https://www.pib.gov.in/PressReleasePage.aspx?PRID=2219936&amp;lang=1&amp;reg=1 (TAM learner count; accessed 2026-08-16)</a:t>
            </a:r>
            <a:endParaRPr/>
          </a:p>
          <a:p xmlns:a="http://schemas.openxmlformats.org/drawingml/2006/main">
            <a:r>
              <a:t>- Internal project planning assumptions: one-campus SAM and 100-learner pilot target; not measured traction.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C:/Users/maadh/Desktop/AxiomTrace (local verification run; accessed 2026-08-16)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8b4e9dab04be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cde30f3a8f41ce" /><Relationship Type="http://schemas.openxmlformats.org/officeDocument/2006/relationships/slideLayout" Target="/ppt/slideLayouts/slideLayout1.xml" Id="Re18a977f3c8a4c4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8a977f3c8a4c4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b80210acf41b7" /><Relationship Type="http://schemas.openxmlformats.org/officeDocument/2006/relationships/notesSlide" Target="/ppt/notesSlides/notesSlide1.xml" Id="R80788a8e0b9a4b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7d681e9a04466" /><Relationship Type="http://schemas.openxmlformats.org/officeDocument/2006/relationships/notesSlide" Target="/ppt/notesSlides/notesSlide2.xml" Id="R2cb26e06fd8c4a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6a7776d194480" /><Relationship Type="http://schemas.openxmlformats.org/officeDocument/2006/relationships/notesSlide" Target="/ppt/notesSlides/notesSlide3.xml" Id="Rd0cc0cd711734f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e9a91e5fe4701" /><Relationship Type="http://schemas.openxmlformats.org/officeDocument/2006/relationships/notesSlide" Target="/ppt/notesSlides/notesSlide4.xml" Id="Re66db86fb70f40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5e7bbf6c24336" /><Relationship Type="http://schemas.openxmlformats.org/officeDocument/2006/relationships/notesSlide" Target="/ppt/notesSlides/notesSlide5.xml" Id="R45481cf2f7f641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335d202524bab" /><Relationship Type="http://schemas.openxmlformats.org/officeDocument/2006/relationships/notesSlide" Target="/ppt/notesSlides/notesSlide6.xml" Id="Rfd1ec957dc1b4a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6ca7d5cc04879" /><Relationship Type="http://schemas.openxmlformats.org/officeDocument/2006/relationships/notesSlide" Target="/ppt/notesSlides/notesSlide7.xml" Id="R0e82d558583a41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4bfc5b089407f" /><Relationship Type="http://schemas.openxmlformats.org/officeDocument/2006/relationships/notesSlide" Target="/ppt/notesSlides/notesSlide8.xml" Id="R9f24c7d52e514d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ae522d6d24a2a" /><Relationship Type="http://schemas.openxmlformats.org/officeDocument/2006/relationships/notesSlide" Target="/ppt/notesSlides/notesSlide9.xml" Id="R1651643dd59046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0a4b8c48a444d" /><Relationship Type="http://schemas.openxmlformats.org/officeDocument/2006/relationships/notesSlide" Target="/ppt/notesSlides/notesSlide10.xml" Id="Rf831b87e55114c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4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03E097-6E67-44F0-AA24-783377AD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46304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ACFDDF-DC75-4797-B2F8-BA11B396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57200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6C55DA-80FD-4418-A578-D5549EE4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9E795"/>
                </a:solidFill>
                <a:latin typeface="Calibri"/>
                <a:ea typeface="Calibri"/>
                <a:cs typeface="Calibri"/>
              </a:rPr>
              <a:t>IDEA PITCH  ·  STARTUP IDEA CHALLENGE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29A6275-4DEE-4BA2-9C7A-69FA2C6F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96012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AXIOM TRACE</a:t>
            </a:r>
            <a:endParaRPr sz="4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C01BE81-4DBA-4837-B9B8-C0BEEDD2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2044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F9E795"/>
                </a:solidFill>
                <a:latin typeface="Calibri"/>
                <a:ea typeface="Calibri"/>
                <a:cs typeface="Calibri"/>
              </a:rPr>
              <a:t>Turn personal learning evidence into mastery-aware, cited next steps.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3E639D5-DFF4-4F82-9C8B-B0C9EC73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9616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A9B5AE1-A976-4E2C-8C4D-42CC81D4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Team: Highest in the Room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B187063-C7BE-4719-96B3-79E3AAF7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CEE8"/>
                </a:solidFill>
                <a:latin typeface="Calibri"/>
                <a:ea typeface="Calibri"/>
                <a:cs typeface="Calibri"/>
              </a:rPr>
              <a:t>Members: Maadhav V H, Sachin A S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4B5E7D-EC12-4133-A41A-5940AA6F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30368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CEE8"/>
                </a:solidFill>
                <a:latin typeface="Calibri"/>
                <a:ea typeface="Calibri"/>
                <a:cs typeface="Calibri"/>
              </a:rPr>
              <a:t>College / Department: KPRIET – ECE, CSE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962056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F1A40A3-6DED-4DC3-8321-6CAAEF63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915D3F-CEFA-49F6-B99E-D2A7C3DE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F01ADDD-4D31-4098-87C6-0D58D7B9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86868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 spc="50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THE PROBLEM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89F321-42D7-4D2D-B47F-86404313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6126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Students have abundant content but no connected view of what they know or should learn next.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74F8AE7-83E0-446F-A0A6-AA326A9D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64592" cy="0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DE0DE4-33FB-4E35-A153-89ADE3FE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61264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Students juggle notes, PDFs, webpages, assessments and AI chats.</a:t>
            </a:r>
            <a:endParaRPr sz="150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College and self-directed learners lose the prerequisite chain.</a:t>
            </a:r>
            <a:endParaRPr sz="150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Generic assistants retrieve text but do not model mastery.</a:t>
            </a:r>
            <a:endParaRPr sz="150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Students cannot see why evidence was chosen.</a:t>
            </a:r>
            <a:endParaRPr sz="150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500">
                <a:solidFill>
                  <a:srgbClr val="2D2D2D"/>
                </a:solidFill>
                <a:latin typeface="Calibri"/>
                <a:ea typeface="Calibri"/>
                <a:cs typeface="Calibri"/>
              </a:rPr>
              <a:t>The result is repeated searching, revision and weak next-step guidance.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B4E5B53-E903-4CB6-A55F-6C943565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17320"/>
            <a:ext cx="4206240" cy="36576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2F3C7E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AE3DA6-1F89-4E1A-A4E0-199A055F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3736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F9E795"/>
                </a:solidFill>
                <a:latin typeface="Calibri"/>
                <a:ea typeface="Calibri"/>
                <a:cs typeface="Calibri"/>
              </a:rPr>
              <a:t>PROOF IT'S A REAL PROBLEM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3DFA848-9C25-419D-BF9C-4855DBBF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4560"/>
            <a:ext cx="3474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4.46 Cr</a:t>
            </a:r>
            <a:endParaRPr sz="5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AB7300-4FEB-4EB8-AD63-BDD4CB1E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46120"/>
            <a:ext cx="34747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D8DCEF"/>
                </a:solidFill>
                <a:latin typeface="Calibri"/>
                <a:ea typeface="Calibri"/>
                <a:cs typeface="Calibri"/>
              </a:rPr>
              <a:t>Students enrolled in Indian higher education, 2022–23 (provisional).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D8DCEF"/>
                </a:solidFill>
                <a:latin typeface="Calibri"/>
                <a:ea typeface="Calibri"/>
                <a:cs typeface="Calibri"/>
              </a:rPr>
              <a:t>Source: Ministry of Education, AISHE.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66A2BE8-20A1-4595-90DA-C92B31BB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IDEA PITCH · STARTUP IDEA CHALLENGE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C2AB601-E075-4EF5-9D42-C42810E4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45330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D51BA3-2365-4B8A-B368-279F2E05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F3061B-DB85-4025-9A31-3D76785F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FFA23C8-0E42-4501-A2DA-AF734549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86868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 spc="50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THE SOLUTION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4E407B4-9083-4CF3-A3BD-C3E218E1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094415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F1F9FFA-4B0F-4187-8583-2C9C5C86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17320"/>
            <a:ext cx="10362895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i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Axiom Trace combines a prerequisite graph, knowledge tracing and cited RAG to personalize each learner’s next action.</a:t>
            </a:r>
            <a:endParaRPr sz="1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C822327-F173-4F6C-9B33-36918E69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35204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4C12675-547C-4DC6-A38A-F0CD904B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37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94ED261-9BC6-4923-A338-35191C0B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37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1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88CB36A-C54F-411A-B768-08CAA9CE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Know the gap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42CA98A-EAE2-4898-A448-C8DFA13B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9768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The prerequisite graph exposes the concept blocking progress.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5B6E05A-C2ED-46DD-BA9C-935197C3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063240"/>
            <a:ext cx="35204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F3DBAED-71D6-482D-966C-41F372DA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337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8B8F79-39B0-4508-8A2F-7C3EECB3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337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2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0A0A43-5E84-4090-9106-723BDAD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93192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Trust the answer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BBF438-2DEB-4C8D-A44B-25C60FA5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29768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Every response cites the learner’s own evidence and retrieval path.</a:t>
            </a:r>
            <a:endParaRPr sz="12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DBA8B07-B378-4143-AF3E-A01AFF1D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3240"/>
            <a:ext cx="35204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7ED3693-5DC2-4660-9503-1793179B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3375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DAE9903-6BFF-47F3-A2AD-FA9D34FF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33756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3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280D37E-0ED7-4852-A279-113ADDEB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93192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Act next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044FB3D-17EE-4A05-9B82-FFACD51B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29768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Mastery updates become focused study recommendations.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435CADB-A9F8-4BC4-9C09-F66E7076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IDEA PITCH · STARTUP IDEA CHALLENGE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E5285D0-78EA-4F7F-8D3B-70CF8426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20922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F8AE460-4DFE-49FB-A0DB-DDE8071F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5B5BB6C-C431-4BB0-8DCD-926F36E2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75DB7CB-27C7-4464-9A2D-AC4B043A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86868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 spc="50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HOW IT WORKS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347BB8-3870-4FF1-93E7-F8AABFFA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 three-step local-first loop turns scattered study material into adaptive guidance.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C056BC-33BC-4B54-A6DB-5BC6039B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320040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AAEDC0C-4449-4368-A906-90369AC6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9659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72B8E2-7B2E-41D9-932A-C908C0F0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96596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9847EA7-E295-4336-9C1D-975D5479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88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Capture evidence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2C070F-B720-4A01-9E54-C523FCA1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291840"/>
            <a:ext cx="2743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Save focused reading, notes and PDFs locally.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CD1685D-2D92-457D-8687-DFBBBC5D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3694176"/>
            <a:ext cx="393192" cy="29260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E795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5AFB46C-E4DA-4425-BA0D-D6ADA4C4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86000"/>
            <a:ext cx="320040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4FD975A-270A-4652-86EA-14681125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9659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E0D54A-AAED-466A-BEE8-F7EBA096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96596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4C65496-6151-4242-9374-D49C1FF1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88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Trace knowledge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445770C-8E9E-4D53-87DF-2DB69E6B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91840"/>
            <a:ext cx="2743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Map concepts, prerequisites and P(known); rerank evidence.</a:t>
            </a:r>
            <a:endParaRPr sz="13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CABB91D-BE7F-41D6-BEDD-A924797A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3694176"/>
            <a:ext cx="393192" cy="29260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E795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DA1AED7-36A7-4635-81AA-D0E12AC6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20040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BCFD14C-ECEA-4E3F-BCC5-AAD69187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9659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2909021-B285-4342-8145-76509937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96596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48C7F48-AE08-4A03-BC2A-2FD9934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8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Adapt study</a:t>
            </a:r>
            <a:endParaRPr sz="16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9166E11-8442-4558-9591-AA05196D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1840"/>
            <a:ext cx="2743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Generate cited explanations, quizzes and the next action.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D860A35-4147-4974-881D-638B9621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IDEA PITCH · STARTUP IDEA CHALLENGE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94D2E07-F72F-47D0-B255-2A8E9DE2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933522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D8A21B-B834-4828-B0BA-50EDAC82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CB9A8FF-380A-435C-AD13-CD1573D6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365DA5-7C4B-4495-AECC-A7FC95E1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86868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 spc="50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MARKET OPPORTUNITY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6046D6C-EB58-4E85-B023-D3AE293B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Start with a reachable campus pilot, then expand only after learning outcomes are validated.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1521EE6-5955-4A78-A4D8-0F9E49CA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3346704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562786A-43D0-4FC8-BCB9-FA2B4A25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60320"/>
            <a:ext cx="2798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F96167"/>
                </a:solidFill>
                <a:latin typeface="Calibri"/>
                <a:ea typeface="Calibri"/>
                <a:cs typeface="Calibri"/>
              </a:rPr>
              <a:t>TAM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F98633A-70DB-41B8-A3A3-7B90F520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71800"/>
            <a:ext cx="279806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4.46 Cr</a:t>
            </a:r>
            <a:endParaRPr sz="3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3E8A530-7110-4A37-8FFF-0C839E48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77640"/>
            <a:ext cx="279806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Indian higher-education students — broad learner base.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86D58C-3D05-436F-AB64-4B96D565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2286000"/>
            <a:ext cx="3346704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B55C945-5DD2-4CB3-86E7-72F7233E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560320"/>
            <a:ext cx="2798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F96167"/>
                </a:solidFill>
                <a:latin typeface="Calibri"/>
                <a:ea typeface="Calibri"/>
                <a:cs typeface="Calibri"/>
              </a:rPr>
              <a:t>SAM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AC66081-2211-45F3-9C46-21AEDB44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971800"/>
            <a:ext cx="279806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1 campus</a:t>
            </a:r>
            <a:endParaRPr sz="3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45A8449-3189-465F-A0C2-C9045EF5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977640"/>
            <a:ext cx="279806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Initial serviceable segment: engineering learners at KPRIET.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4AB0D66-A261-4A06-B37A-24911041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286000"/>
            <a:ext cx="3346704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2F3C7E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FDF658B-B2F4-45AE-BBA1-75958A63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560320"/>
            <a:ext cx="2798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F9E795"/>
                </a:solidFill>
                <a:latin typeface="Calibri"/>
                <a:ea typeface="Calibri"/>
                <a:cs typeface="Calibri"/>
              </a:rPr>
              <a:t>SOM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4EC45A1-1FC5-40CC-A669-4E851CEB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971800"/>
            <a:ext cx="2798064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100</a:t>
            </a:r>
            <a:endParaRPr sz="3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91EC29-981D-4FEB-8EC2-584C71F3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977640"/>
            <a:ext cx="279806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D8DCEF"/>
                </a:solidFill>
                <a:latin typeface="Calibri"/>
                <a:ea typeface="Calibri"/>
                <a:cs typeface="Calibri"/>
              </a:rPr>
              <a:t>Year 1–2 pilot target — an objective, not current traction.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FB7168F-0117-4CE6-A83A-7A57E94F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IDEA PITCH · STARTUP IDEA CHALLENGE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8F844AB-9EA3-439B-9987-C55D93E3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78276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AF1B1A9-796D-4E6D-A771-09B4DAF8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AD899B-175D-4D44-9696-86C2C371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27CDF10-8C80-40A5-991C-3C8D4241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86868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 spc="50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BUSINESS MODEL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ED14962-1FEE-454A-859E-6F042ADD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 local-first product can support both student access and institution-funded validation.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9DCD624-C56E-45C8-8363-154A3114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525780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1AD79BD-167B-4DA8-B62E-F2B6BF12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4C21319-6785-42CD-B4E4-217B7632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05456"/>
            <a:ext cx="4343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Revenue Streams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033756-A3BC-4784-BA37-16C33A49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907792"/>
            <a:ext cx="4343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Freemium student app; institution licences; paid local deployment and support.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C493C0C-9149-4AF5-8F0A-25D232C3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86000"/>
            <a:ext cx="525780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F95AFCF-5791-41E2-85EA-711586D8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860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4C2CE6C-B65A-4FCD-9FE2-5C04AED0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505456"/>
            <a:ext cx="4343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Pricing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3CE910B-D322-4158-BCCB-2002310A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907792"/>
            <a:ext cx="4343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Free core tier. Pilot pricing is validated with institutions before launch.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4A2F82F-8C6C-47D8-9038-8CD75CA6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0520"/>
            <a:ext cx="525780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AF763F-7152-49BB-80E7-C3422581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5312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3FB81AA-F905-4C7C-B5FA-322341BD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379976"/>
            <a:ext cx="4343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Customer Segments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9348815-EA8B-4975-B988-C32A0E27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782312"/>
            <a:ext cx="4343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Students use the product; colleges and coaching providers can sponsor pilots and dashboards.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296A82D-CD11-44AC-A972-DE013572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160520"/>
            <a:ext cx="525780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A68E4DC-4F80-4BBD-BE7F-9273EFD9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312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2B18BC7-6DE9-4303-8A1F-2C090D06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4379976"/>
            <a:ext cx="4343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Cost Structure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357281D-380E-4096-B914-9DB62EDA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4782312"/>
            <a:ext cx="4343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Model inference, support, evaluation, content ingestion and optional device hosting.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3FCE394-7077-4FE8-BD4E-4C88F209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IDEA PITCH · STARTUP IDEA CHALLENGE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8D5EFF1-7241-4C3E-B1B8-0B435A59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26930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F95364-B7CE-4663-BE40-BF06EFC9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224CBF-B50F-41A2-B950-D8A501A1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A24F6E-DDB4-412A-A9FA-31FFD2E2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86868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 spc="50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COMPETITION &amp; WHY US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B5B0FBB-E4E3-463A-BE85-BDBE09AA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Axiom Trace competes on the learning loop, not on a generic chatbot interface.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756CC24-2B6F-499A-9A41-7C277997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285292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7570D8F-F582-49E2-A548-73291C6F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86000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6FA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384558D-2A15-4635-B830-4B16940C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86000"/>
            <a:ext cx="257860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Generic AI / RAG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B9B96A6-8C52-45ED-A637-6A1BC497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86000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6FA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4351394-DA3C-411B-AFDC-7F64FD3A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86000"/>
            <a:ext cx="257860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LMS / Flashcards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D76CBE2-67A0-4BC5-9044-6500B782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286000"/>
            <a:ext cx="267004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F3C7E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141721E-EC6D-40EF-9223-97065ADF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286000"/>
            <a:ext cx="267004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Axiom Trace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38421D1-36DD-4415-8479-7C88E39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81528"/>
            <a:ext cx="285292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228C427-A588-4583-8E0C-1BF7EDE6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1528"/>
            <a:ext cx="257860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F3C7E"/>
                </a:solidFill>
                <a:latin typeface="Calibri"/>
                <a:ea typeface="Calibri"/>
                <a:cs typeface="Calibri"/>
              </a:rPr>
              <a:t>Price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C87A870-0104-4BB0-A4FE-7088F059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081528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6FA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89B5111-C71A-4C4B-9896-1B836F0F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081528"/>
            <a:ext cx="23042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Cloud / API dependent</a:t>
            </a:r>
            <a:endParaRPr sz="13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8EC63E6-3D32-425D-8752-C8281259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81528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6FA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C756CBD-2299-46D5-9A62-D3572E8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081528"/>
            <a:ext cx="23042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Free to licensed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CD3387E-BED2-4337-A8A0-60362BC2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081528"/>
            <a:ext cx="267004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FEF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AF71A97-9969-40BD-95B6-704A6916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81528"/>
            <a:ext cx="239572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Local-first core</a:t>
            </a:r>
            <a:endParaRPr sz="13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FFBFACD-2DB0-417C-B740-A2425B61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77056"/>
            <a:ext cx="285292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5BE522-6275-41F5-937F-37D0E8B9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7056"/>
            <a:ext cx="257860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F3C7E"/>
                </a:solidFill>
                <a:latin typeface="Calibri"/>
                <a:ea typeface="Calibri"/>
                <a:cs typeface="Calibri"/>
              </a:rPr>
              <a:t>Ease of use</a:t>
            </a:r>
            <a:endParaRPr sz="13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EA3492E-E3B7-4332-9E30-3904307A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877056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6FA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908A476-91B8-423D-B92F-C20464CA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877056"/>
            <a:ext cx="23042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Prompt + retrieve</a:t>
            </a:r>
            <a:endParaRPr sz="13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8346136-9501-49DB-BDEE-4BE7FA5B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877056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6FA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1C0E01F-6A49-478C-A35F-0B13119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77056"/>
            <a:ext cx="23042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Manual authoring</a:t>
            </a:r>
            <a:endParaRPr sz="13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14B24BB-B3C4-460E-A2D9-64211B8C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877056"/>
            <a:ext cx="267004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FEF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10F6CAF-0FC0-4B60-B720-FA71501E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77056"/>
            <a:ext cx="239572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Capture-to-study loop</a:t>
            </a:r>
            <a:endParaRPr sz="13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76C0EC9-D058-42DD-8F24-9D6AE1C7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72584"/>
            <a:ext cx="285292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03795F9-EEE0-4BA6-9B25-DE08BE8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2584"/>
            <a:ext cx="257860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F3C7E"/>
                </a:solidFill>
                <a:latin typeface="Calibri"/>
                <a:ea typeface="Calibri"/>
                <a:cs typeface="Calibri"/>
              </a:rPr>
              <a:t>Key feature</a:t>
            </a:r>
            <a:endParaRPr sz="13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B00514B-EC47-4531-A42C-159858F2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672584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6FA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2792036-6646-4C90-890C-FB05EE73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672584"/>
            <a:ext cx="23042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Semantic search</a:t>
            </a:r>
            <a:endParaRPr sz="13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42935C1-0AAA-428F-AB16-835F35D6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672584"/>
            <a:ext cx="257860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6FA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D2AEF57-FDF7-4174-B083-60F0E850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672584"/>
            <a:ext cx="230428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Schedules + quizzes</a:t>
            </a:r>
            <a:endParaRPr sz="13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76B5D03-D40C-40DE-837C-77C04A5D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672584"/>
            <a:ext cx="2670048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FEF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2D4EAAC-11CE-4A7B-A164-069D4E8D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72584"/>
            <a:ext cx="239572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Graph + mastery + citations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3408185-F3EF-4172-8F04-95794E2E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9601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Our advantage is the integrated evidence–graph–mastery loop: retrieval decisions and study actions change with the learner’s current state.</a:t>
            </a:r>
            <a:endParaRPr sz="12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EC91C5C-D2DB-4A4D-A3A7-31758BDB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IDEA PITCH · STARTUP IDEA CHALLENGE</a:t>
            </a:r>
            <a:endParaRPr sz="9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0088182-FA3C-40AE-9BA7-1AE15F90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973391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7E89B4A-E522-4AE6-A2D4-6A55FFA8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690396-A94A-4C2F-8E7E-1D157681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9B18ABE-A5AF-4C9D-BFFE-18F566F4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86868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 spc="50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TRACTION &amp; VALIDATION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054BFB4-567D-45E3-B6E0-6D3DA9FC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Product validation is complete for the demo; demand and learning-outcome validation are the next milestones.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D535766-1D90-406A-8CE0-633DF381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251460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CC683B0-E7DD-4AC8-9B35-DA61F492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4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252</a:t>
            </a:r>
            <a:endParaRPr sz="3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98C97F-15A1-4732-B397-3E1E6854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Backend tests passed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D12EAC7-7ACB-4992-9FC1-21377952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468880"/>
            <a:ext cx="251460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17581BB-CE87-4B75-B44B-2945A7B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83464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0</a:t>
            </a:r>
            <a:endParaRPr sz="3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CBFB2E1-5DAC-4CDE-8F6B-60C4DD9E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70332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Duplicate records in tested replays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4A43CEE-736F-40E9-AAF7-5383A5CE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468880"/>
            <a:ext cx="251460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9B46DD9-36F5-44B6-931E-BC2A6ADE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83464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200 / 200</a:t>
            </a:r>
            <a:endParaRPr sz="3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4226305-9519-46F1-9109-B6E6F59E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70332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Web / API health checks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0851518-26C4-467C-903C-0A004120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536" y="2468880"/>
            <a:ext cx="251460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77BCC0C-6624-44DD-B66C-E7E4FCB7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834640"/>
            <a:ext cx="2148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MVP</a:t>
            </a:r>
            <a:endParaRPr sz="3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26F05F3-0661-4359-AD37-8E496C26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3703320"/>
            <a:ext cx="2148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Web app, API and extension status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C8A7ECB-87D1-4A8A-9EFF-A99BB5BC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IDEA PITCH · STARTUP IDEA CHALLENGE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0EB58A6-7F20-4697-B968-3D941D2C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38139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5AB8755-D61C-461B-96D4-B9F3069C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E2AA9E-9B99-40AB-A964-44D94C4D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957B811-C809-4360-89C9-0CB19666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9768"/>
            <a:ext cx="86868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 spc="50">
                <a:solidFill>
                  <a:srgbClr val="2F3C7E"/>
                </a:solidFill>
                <a:latin typeface="Cambria"/>
                <a:ea typeface="Cambria"/>
                <a:cs typeface="Cambria"/>
              </a:rPr>
              <a:t>THE TEAM &amp; OPEN ROLES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5C50DBC-1C0B-4C44-B37F-3BAF187F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Two builders own the MVP; the next step is to add learning-science, pilot and evaluation expertise.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02959B2-D675-43AF-A182-0057D58B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1965960" cy="292608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D6D3712-2DF2-476F-909B-6BA140D5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" y="2697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6167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3A04C-2812-4DA6-8CCC-8CB56FB9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" y="2697480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MV</a:t>
            </a:r>
            <a:endParaRPr sz="2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1F34212-3247-4196-A239-6EA0CCB8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F3C7E"/>
                </a:solidFill>
                <a:latin typeface="Calibri"/>
                <a:ea typeface="Calibri"/>
                <a:cs typeface="Calibri"/>
              </a:rPr>
              <a:t>Maadhav V H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3821443-263F-47AF-B377-62D6FAE7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783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Architecture · backend · AI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C186A5D-335A-4EF7-9CEE-DD68D547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423160"/>
            <a:ext cx="1965960" cy="292608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A8D148-8C61-43D2-9C4F-C843AF1B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268" y="2697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4877E35-46D9-4603-ACE9-C6393C0E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268" y="2697480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SA</a:t>
            </a:r>
            <a:endParaRPr sz="2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964CDB2-2609-4817-9043-C4F4DE20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84048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F3C7E"/>
                </a:solidFill>
                <a:latin typeface="Calibri"/>
                <a:ea typeface="Calibri"/>
                <a:cs typeface="Calibri"/>
              </a:rPr>
              <a:t>Sachin A S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2FD5AED-D0C9-46E0-A655-F1C75207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4206240"/>
            <a:ext cx="1783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Product · frontend · integration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B4E8D2D-6AEA-4889-AC72-0DD93EAD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423160"/>
            <a:ext cx="1965960" cy="292608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4871802-F974-47D7-8782-A4A205DA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396" y="2697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E795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FB4E1B9-9655-410F-8BC3-57B444F4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396" y="2697480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LS</a:t>
            </a:r>
            <a:endParaRPr sz="2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D8B8469-6C9E-4EFC-8E4F-725D18E0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384048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F3C7E"/>
                </a:solidFill>
                <a:latin typeface="Calibri"/>
                <a:ea typeface="Calibri"/>
                <a:cs typeface="Calibri"/>
              </a:rPr>
              <a:t>Open role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FD9E0CB-2AE5-4B5B-BBE8-59E35DDB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4206240"/>
            <a:ext cx="1783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Learning science</a:t>
            </a:r>
            <a:endParaRPr sz="11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01BC034-BE48-43D4-B6C8-339C8A1A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2423160"/>
            <a:ext cx="1965960" cy="292608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550050A-4B5F-4E33-8F0D-C718AD18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524" y="2697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7BC62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A21EF3C-9E3E-466C-AAD8-742D97BA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524" y="2697480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PP</a:t>
            </a:r>
            <a:endParaRPr sz="2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951F61D-AE14-4175-AC67-968710A5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384048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F3C7E"/>
                </a:solidFill>
                <a:latin typeface="Calibri"/>
                <a:ea typeface="Calibri"/>
                <a:cs typeface="Calibri"/>
              </a:rPr>
              <a:t>Open role</a:t>
            </a:r>
            <a:endParaRPr sz="12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558C571-5836-4D29-938E-6FD7DF92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4206240"/>
            <a:ext cx="1783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Pilot partnership</a:t>
            </a:r>
            <a:endParaRPr sz="11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360EF89-65F0-4F49-BB4B-D8AAAE23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423160"/>
            <a:ext cx="1965960" cy="292608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5F6FA"/>
          </a:solidFill>
          <a:effectLst xmlns:a="http://schemas.openxmlformats.org/drawingml/2006/main">
            <a:outerShdw blurRad="76200" dist="25400" dir="5400000" sx="100000" sy="100000" kx="0" ky="0" algn="bl" rotWithShape="0">
              <a:srgbClr val="808080">
                <a:alpha val="18000"/>
              </a:srgbClr>
            </a:outerShdw>
          </a:effectLst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646A3C0-BACE-4C37-8908-A5CB0246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652" y="2697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26769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66A0111-4F9B-4435-9F04-0ABDE0B8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652" y="2697480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</a:t>
            </a:r>
            <a:endParaRPr sz="2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B161A7B-966B-42CC-B8EC-D537C9BD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384048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F3C7E"/>
                </a:solidFill>
                <a:latin typeface="Calibri"/>
                <a:ea typeface="Calibri"/>
                <a:cs typeface="Calibri"/>
              </a:rPr>
              <a:t>Open role</a:t>
            </a:r>
            <a:endParaRPr sz="12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2390A9E-A819-4622-B904-C6B8A780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4206240"/>
            <a:ext cx="17830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Model evaluation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6D06A35-7F6D-46F9-BB06-030EB59E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IDEA PITCH · STARTUP IDEA CHALLENGE</a:t>
            </a:r>
            <a:endParaRPr sz="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9CA8680-A86A-43F1-96D0-324FCAA5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73952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245466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24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8334235-F319-4BDC-83F8-533585EC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45920" y="384048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C7E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9F2FB4-F68A-476E-8D19-61DBDDA9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3152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9E795"/>
                </a:solidFill>
                <a:latin typeface="Calibri"/>
                <a:ea typeface="Calibri"/>
                <a:cs typeface="Calibri"/>
              </a:rPr>
              <a:t>VISION &amp; THE ASK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79E5C3-8E6A-4FE0-9F7B-833797CD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trusted learning layer that shows what each student knows, why an answer is relevant and what to learn next.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8BB48A0-0DA5-414D-8EA1-10FB994D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0312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C9CEE8"/>
                </a:solidFill>
                <a:latin typeface="Calibri"/>
                <a:ea typeface="Calibri"/>
                <a:cs typeface="Calibri"/>
              </a:rPr>
              <a:t>Three-year direction: instructor-validated pilots, multi-user dashboards and measurable learning-gain studies.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D17D24F-AABF-45C6-B9DE-42945FC2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34640"/>
            <a:ext cx="11094415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F3C7E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852B86D-DA2F-4D0A-9FF1-A6AB5B1E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75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00">
                <a:solidFill>
                  <a:srgbClr val="F9E795"/>
                </a:solidFill>
                <a:latin typeface="Calibri"/>
                <a:ea typeface="Calibri"/>
                <a:cs typeface="Calibri"/>
              </a:rPr>
              <a:t>THE ASK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9678F47-88D8-4D2C-8E25-03070BA7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3280"/>
            <a:ext cx="10362895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E9ECF7"/>
                </a:solidFill>
                <a:latin typeface="Calibri"/>
                <a:ea typeface="Calibri"/>
                <a:cs typeface="Calibri"/>
              </a:rPr>
              <a:t>We are seeking a KPRIET pilot partner, learning-science mentorship and an evaluation cohort to validate retrieval quality, mastery calibration and learning outcomes.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5F8294A-70A2-441F-92A0-D82B61BB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9160"/>
            <a:ext cx="5486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Thank you!</a:t>
            </a:r>
            <a:endParaRPr sz="2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6CE5023-2FA5-412D-81F1-39F6501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CEE8"/>
                </a:solidFill>
                <a:latin typeface="Calibri"/>
                <a:ea typeface="Calibri"/>
                <a:cs typeface="Calibri"/>
              </a:rPr>
              <a:t>Highest in the Room  ·  KPRIET  ·  ECE / CSE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32110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2026-08-16T09:31:42.7510000Z</dcterms:created>
  <dcterms:modified xsi:type="dcterms:W3CDTF">2026-08-16T09:31:42.7510000Z</dcterms:modified>
</coreProperties>
</file>